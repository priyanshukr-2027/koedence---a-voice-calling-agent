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" charset="1" panose="02020603050405020304"/>
      <p:regular r:id="rId20"/>
    </p:embeddedFont>
    <p:embeddedFont>
      <p:font typeface="Times New Roman Bold" charset="1" panose="02020803070505020304"/>
      <p:regular r:id="rId21"/>
    </p:embeddedFont>
    <p:embeddedFont>
      <p:font typeface="Arial Bold" charset="1" panose="020B0704020202020204"/>
      <p:regular r:id="rId23"/>
    </p:embeddedFont>
    <p:embeddedFont>
      <p:font typeface="Calibri (MS)" charset="1" panose="020F0502020204030204"/>
      <p:regular r:id="rId24"/>
    </p:embeddedFont>
    <p:embeddedFont>
      <p:font typeface="Calibri (MS) Bold" charset="1" panose="020F0702030404030204"/>
      <p:regular r:id="rId28"/>
    </p:embeddedFont>
    <p:embeddedFont>
      <p:font typeface="Arial" charset="1" panose="020B0604020202020204"/>
      <p:regular r:id="rId30"/>
    </p:embeddedFont>
    <p:embeddedFont>
      <p:font typeface="Calibri (MS) Italics" charset="1" panose="020F05020202040A0204"/>
      <p:regular r:id="rId31"/>
    </p:embeddedFont>
    <p:embeddedFont>
      <p:font typeface="Canva Sans Bold" charset="1" panose="020B08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2024" y="0"/>
            <a:ext cx="17638776" cy="1722730"/>
            <a:chOff x="0" y="0"/>
            <a:chExt cx="23518368" cy="2296973"/>
          </a:xfrm>
        </p:grpSpPr>
        <p:sp>
          <p:nvSpPr>
            <p:cNvPr name="Freeform 3" id="3" descr="/home/claude/work/unpacked_sample/ppt/media/image2.png"/>
            <p:cNvSpPr/>
            <p:nvPr/>
          </p:nvSpPr>
          <p:spPr>
            <a:xfrm flipH="false" flipV="false" rot="0">
              <a:off x="0" y="0"/>
              <a:ext cx="23518368" cy="2296922"/>
            </a:xfrm>
            <a:custGeom>
              <a:avLst/>
              <a:gdLst/>
              <a:ahLst/>
              <a:cxnLst/>
              <a:rect r="r" b="b" t="t" l="l"/>
              <a:pathLst>
                <a:path h="2296922" w="23518368">
                  <a:moveTo>
                    <a:pt x="0" y="0"/>
                  </a:moveTo>
                  <a:lnTo>
                    <a:pt x="23518368" y="0"/>
                  </a:lnTo>
                  <a:lnTo>
                    <a:pt x="23518368" y="2296922"/>
                  </a:lnTo>
                  <a:lnTo>
                    <a:pt x="0" y="2296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528" r="0" b="-753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157862"/>
            <a:ext cx="16248888" cy="380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3"/>
              </a:lnSpc>
            </a:pPr>
            <a:r>
              <a:rPr lang="en-US" sz="30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</a:t>
            </a:r>
          </a:p>
          <a:p>
            <a:pPr algn="ctr">
              <a:lnSpc>
                <a:spcPts val="3773"/>
              </a:lnSpc>
            </a:pPr>
            <a:r>
              <a:rPr lang="en-US" sz="30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</a:p>
          <a:p>
            <a:pPr algn="ctr">
              <a:lnSpc>
                <a:spcPts val="4651"/>
              </a:lnSpc>
            </a:pPr>
            <a:r>
              <a:rPr lang="en-US" sz="3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VoCall — The memory augmented voice calling agent</a:t>
            </a:r>
          </a:p>
          <a:p>
            <a:pPr algn="ctr">
              <a:lnSpc>
                <a:spcPts val="4651"/>
              </a:lnSpc>
            </a:pPr>
            <a:r>
              <a:rPr lang="en-US" sz="3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with emotional awareness </a:t>
            </a:r>
          </a:p>
          <a:p>
            <a:pPr algn="ctr">
              <a:lnSpc>
                <a:spcPts val="2058"/>
              </a:lnSpc>
            </a:pPr>
            <a:r>
              <a:rPr lang="en-US" sz="168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2916"/>
              </a:lnSpc>
            </a:pPr>
          </a:p>
          <a:p>
            <a:pPr algn="ctr">
              <a:lnSpc>
                <a:spcPts val="2916"/>
              </a:lnSpc>
            </a:pPr>
            <a:r>
              <a:rPr lang="en-US" sz="2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2401"/>
              </a:lnSpc>
            </a:pPr>
            <a:r>
              <a:rPr lang="en-US" sz="196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2916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597193" y="9333467"/>
            <a:ext cx="16026960" cy="1322224"/>
            <a:chOff x="0" y="0"/>
            <a:chExt cx="23298912" cy="1922160"/>
          </a:xfrm>
        </p:grpSpPr>
        <p:sp>
          <p:nvSpPr>
            <p:cNvPr name="Freeform 6" id="6" descr="/home/claude/work/unpacked_sample/ppt/media/image1.jpeg"/>
            <p:cNvSpPr/>
            <p:nvPr/>
          </p:nvSpPr>
          <p:spPr>
            <a:xfrm flipH="false" flipV="false" rot="0">
              <a:off x="0" y="0"/>
              <a:ext cx="23298913" cy="1922160"/>
            </a:xfrm>
            <a:custGeom>
              <a:avLst/>
              <a:gdLst/>
              <a:ahLst/>
              <a:cxnLst/>
              <a:rect r="r" b="b" t="t" l="l"/>
              <a:pathLst>
                <a:path h="1922160" w="23298913">
                  <a:moveTo>
                    <a:pt x="0" y="0"/>
                  </a:moveTo>
                  <a:lnTo>
                    <a:pt x="23298913" y="0"/>
                  </a:lnTo>
                  <a:lnTo>
                    <a:pt x="23298913" y="1922160"/>
                  </a:lnTo>
                  <a:lnTo>
                    <a:pt x="0" y="192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999" r="0" b="-2500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570461" y="8964776"/>
            <a:ext cx="3947410" cy="1968167"/>
          </a:xfrm>
          <a:custGeom>
            <a:avLst/>
            <a:gdLst/>
            <a:ahLst/>
            <a:cxnLst/>
            <a:rect r="r" b="b" t="t" l="l"/>
            <a:pathLst>
              <a:path h="1968167" w="3947410">
                <a:moveTo>
                  <a:pt x="0" y="0"/>
                </a:moveTo>
                <a:lnTo>
                  <a:pt x="3947410" y="0"/>
                </a:lnTo>
                <a:lnTo>
                  <a:pt x="3947410" y="1968167"/>
                </a:lnTo>
                <a:lnTo>
                  <a:pt x="0" y="1968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9655" t="-2477962" r="-272229" b="-282512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832991" y="7309485"/>
            <a:ext cx="4937760" cy="1192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1"/>
              </a:lnSpc>
            </a:pPr>
            <a:r>
              <a:rPr lang="en-US" sz="2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Supervision</a:t>
            </a:r>
          </a:p>
          <a:p>
            <a:pPr algn="l">
              <a:lnSpc>
                <a:spcPts val="3121"/>
              </a:lnSpc>
            </a:pPr>
            <a:r>
              <a:rPr lang="en-US" sz="2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 Shivkant</a:t>
            </a:r>
          </a:p>
          <a:p>
            <a:pPr algn="l">
              <a:lnSpc>
                <a:spcPts val="3121"/>
              </a:lnSpc>
            </a:pPr>
            <a:r>
              <a:rPr lang="en-US" sz="25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(Assistant Professor)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81060" y="7196769"/>
            <a:ext cx="3310414" cy="279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Abhishek Kr. Singh (2301321630002)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Adarsh Pandey (2301321630005)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Ananya Gupta (2301321630007)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Priyanshu Kumar (2301321630027</a:t>
            </a: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</a:t>
            </a:r>
          </a:p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155660" y="4528502"/>
            <a:ext cx="7994968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Number : 5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&amp; Data Science (AI&amp;DS)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GNIOT Greater Noida, India)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 &amp; Motivation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253615"/>
            <a:ext cx="8111490" cy="6877050"/>
            <a:chOff x="0" y="0"/>
            <a:chExt cx="10815320" cy="9169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81532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631932" y="0"/>
                  </a:lnTo>
                  <a:cubicBezTo>
                    <a:pt x="10733150" y="0"/>
                    <a:pt x="10815320" y="82169"/>
                    <a:pt x="10815320" y="183388"/>
                  </a:cubicBezTo>
                  <a:lnTo>
                    <a:pt x="10815320" y="8986012"/>
                  </a:lnTo>
                  <a:cubicBezTo>
                    <a:pt x="10815320" y="9087231"/>
                    <a:pt x="10733150" y="9169400"/>
                    <a:pt x="10631932" y="9169400"/>
                  </a:cubicBezTo>
                  <a:lnTo>
                    <a:pt x="183388" y="9169400"/>
                  </a:lnTo>
                  <a:cubicBezTo>
                    <a:pt x="82169" y="9169400"/>
                    <a:pt x="0" y="9087231"/>
                    <a:pt x="0" y="8986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7462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0579" y="2870759"/>
            <a:ext cx="362102" cy="362102"/>
            <a:chOff x="0" y="0"/>
            <a:chExt cx="482803" cy="482803"/>
          </a:xfrm>
        </p:grpSpPr>
        <p:sp>
          <p:nvSpPr>
            <p:cNvPr name="Freeform 13" id="13" descr="/home/claude/work/icons/target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0" b="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4560" y="2702052"/>
            <a:ext cx="6309360" cy="685800"/>
            <a:chOff x="0" y="0"/>
            <a:chExt cx="841248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8412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61872" y="3598545"/>
            <a:ext cx="7214616" cy="5179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0131F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voice-agent platforms rarely provide one integrated architecture that simultaneously delivers low-latency interaction, acoustic-and-textual emotion fusion, persistent caller-specific memory, Hindi–English code-switched interaction, and browser-based testing without physical telephony infrastructure.</a:t>
            </a:r>
          </a:p>
          <a:p>
            <a:pPr algn="l">
              <a:lnSpc>
                <a:spcPts val="2925"/>
              </a:lnSpc>
            </a:pPr>
          </a:p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10131F"/>
                </a:solidFill>
                <a:latin typeface="Calibri (MS)"/>
                <a:ea typeface="Calibri (MS)"/>
                <a:cs typeface="Calibri (MS)"/>
                <a:sym typeface="Calibri (MS)"/>
              </a:rPr>
              <a:t>VoCall's problem, therefore, is designing a unified architecture where real-time voice processing, persistent memory, emotion intelligence, intent reasoning, language-aware processing and developer configuration operate together.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58503" y="2253615"/>
            <a:ext cx="8111490" cy="6877050"/>
            <a:chOff x="0" y="0"/>
            <a:chExt cx="10815320" cy="9169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81532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631932" y="0"/>
                  </a:lnTo>
                  <a:cubicBezTo>
                    <a:pt x="10733150" y="0"/>
                    <a:pt x="10815320" y="82169"/>
                    <a:pt x="10815320" y="183388"/>
                  </a:cubicBezTo>
                  <a:lnTo>
                    <a:pt x="10815320" y="8986012"/>
                  </a:lnTo>
                  <a:cubicBezTo>
                    <a:pt x="10815320" y="9087231"/>
                    <a:pt x="10733150" y="9169400"/>
                    <a:pt x="10631932" y="9169400"/>
                  </a:cubicBezTo>
                  <a:lnTo>
                    <a:pt x="183388" y="9169400"/>
                  </a:lnTo>
                  <a:cubicBezTo>
                    <a:pt x="82169" y="9169400"/>
                    <a:pt x="0" y="9087231"/>
                    <a:pt x="0" y="8986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779508" y="267462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75647" y="2870759"/>
            <a:ext cx="362102" cy="362102"/>
            <a:chOff x="0" y="0"/>
            <a:chExt cx="482803" cy="482803"/>
          </a:xfrm>
        </p:grpSpPr>
        <p:sp>
          <p:nvSpPr>
            <p:cNvPr name="Freeform 23" id="23" descr="/home/claude/work/icons/bulb.png"/>
            <p:cNvSpPr/>
            <p:nvPr/>
          </p:nvSpPr>
          <p:spPr>
            <a:xfrm flipH="false" flipV="false" rot="0">
              <a:off x="0" y="0"/>
              <a:ext cx="482854" cy="482854"/>
            </a:xfrm>
            <a:custGeom>
              <a:avLst/>
              <a:gdLst/>
              <a:ahLst/>
              <a:cxnLst/>
              <a:rect r="r" b="b" t="t" l="l"/>
              <a:pathLst>
                <a:path h="482854" w="482854">
                  <a:moveTo>
                    <a:pt x="0" y="0"/>
                  </a:moveTo>
                  <a:lnTo>
                    <a:pt x="482854" y="0"/>
                  </a:lnTo>
                  <a:lnTo>
                    <a:pt x="482854" y="482854"/>
                  </a:lnTo>
                  <a:lnTo>
                    <a:pt x="0" y="482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0" b="1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739628" y="2702052"/>
            <a:ext cx="6309360" cy="685800"/>
            <a:chOff x="0" y="0"/>
            <a:chExt cx="841248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12480" cy="914400"/>
            </a:xfrm>
            <a:custGeom>
              <a:avLst/>
              <a:gdLst/>
              <a:ahLst/>
              <a:cxnLst/>
              <a:rect r="r" b="b" t="t" l="l"/>
              <a:pathLst>
                <a:path h="9144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262" r="0" b="-12926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41248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Motivation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3840480"/>
            <a:ext cx="192024" cy="192024"/>
            <a:chOff x="0" y="0"/>
            <a:chExt cx="256032" cy="2560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992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218420" y="3595497"/>
            <a:ext cx="6789420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131F"/>
                </a:solidFill>
                <a:latin typeface="Calibri (MS)"/>
                <a:ea typeface="Calibri (MS)"/>
                <a:cs typeface="Calibri (MS)"/>
                <a:sym typeface="Calibri (MS)"/>
              </a:rPr>
              <a:t>Reduce repetition using persistent memory that recalls prior caller context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806940" y="5143500"/>
            <a:ext cx="192024" cy="192024"/>
            <a:chOff x="0" y="0"/>
            <a:chExt cx="256032" cy="2560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992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18420" y="4898517"/>
            <a:ext cx="6789420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131F"/>
                </a:solidFill>
                <a:latin typeface="Calibri (MS)"/>
                <a:ea typeface="Calibri (MS)"/>
                <a:cs typeface="Calibri (MS)"/>
                <a:sym typeface="Calibri (MS)"/>
              </a:rPr>
              <a:t>Add emotional context so responses reflect how a caller is communicating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06940" y="6446520"/>
            <a:ext cx="192024" cy="192024"/>
            <a:chOff x="0" y="0"/>
            <a:chExt cx="256032" cy="2560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992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218420" y="6201537"/>
            <a:ext cx="6789420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131F"/>
                </a:solidFill>
                <a:latin typeface="Calibri (MS)"/>
                <a:ea typeface="Calibri (MS)"/>
                <a:cs typeface="Calibri (MS)"/>
                <a:sym typeface="Calibri (MS)"/>
              </a:rPr>
              <a:t>Combine emotion with intent &amp; slot data for richer conversation management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806940" y="7749540"/>
            <a:ext cx="192024" cy="192024"/>
            <a:chOff x="0" y="0"/>
            <a:chExt cx="256032" cy="2560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992E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218420" y="7504557"/>
            <a:ext cx="6789420" cy="123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875">
                <a:solidFill>
                  <a:srgbClr val="10131F"/>
                </a:solidFill>
                <a:latin typeface="Calibri (MS)"/>
                <a:ea typeface="Calibri (MS)"/>
                <a:cs typeface="Calibri (MS)"/>
                <a:sym typeface="Calibri (MS)"/>
              </a:rPr>
              <a:t>Enable task-oriented use cases: support, sales qualification, appointments, healthcare triage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Problems in Existing Approaches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6596360" cy="1028700"/>
            <a:chOff x="0" y="0"/>
            <a:chExt cx="22128480" cy="137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358" r="0" b="-2643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212848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voice systems rely on rigid, predefined dialogue flows or isolated sessions; LLM-based systems are more flexible but do not, by themselves, provide persistent memory, emotion processing, multilingual routing or structured task execution.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3488055"/>
            <a:ext cx="5368290" cy="2145030"/>
            <a:chOff x="0" y="0"/>
            <a:chExt cx="7157720" cy="2860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577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15772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91604" y="0"/>
                  </a:lnTo>
                  <a:cubicBezTo>
                    <a:pt x="7083298" y="0"/>
                    <a:pt x="7157720" y="74295"/>
                    <a:pt x="7157720" y="166116"/>
                  </a:cubicBezTo>
                  <a:lnTo>
                    <a:pt x="7157720" y="2693924"/>
                  </a:lnTo>
                  <a:cubicBezTo>
                    <a:pt x="7157720" y="2785618"/>
                    <a:pt x="7083425" y="2860040"/>
                    <a:pt x="699160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24712" y="3799332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3977640"/>
            <a:ext cx="329184" cy="329184"/>
            <a:chOff x="0" y="0"/>
            <a:chExt cx="438912" cy="438912"/>
          </a:xfrm>
        </p:grpSpPr>
        <p:sp>
          <p:nvSpPr>
            <p:cNvPr name="Freeform 16" id="16" descr="/home/claude/work/icons/brain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24712" y="4663440"/>
            <a:ext cx="4745736" cy="438912"/>
            <a:chOff x="0" y="0"/>
            <a:chExt cx="6327648" cy="5852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27648" cy="585216"/>
            </a:xfrm>
            <a:custGeom>
              <a:avLst/>
              <a:gdLst/>
              <a:ahLst/>
              <a:cxnLst/>
              <a:rect r="r" b="b" t="t" l="l"/>
              <a:pathLst>
                <a:path h="585216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6327648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Contextual Amnesia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4712" y="5074920"/>
            <a:ext cx="4745736" cy="521208"/>
            <a:chOff x="0" y="0"/>
            <a:chExt cx="6327648" cy="694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27648" cy="694944"/>
            </a:xfrm>
            <a:custGeom>
              <a:avLst/>
              <a:gdLst/>
              <a:ahLst/>
              <a:cxnLst/>
              <a:rect r="r" b="b" t="t" l="l"/>
              <a:pathLst>
                <a:path h="694944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16" r="0" b="-1274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327648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Information is lost once a session ends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36995" y="3488055"/>
            <a:ext cx="5368290" cy="2145030"/>
            <a:chOff x="0" y="0"/>
            <a:chExt cx="7157720" cy="2860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577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15772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91604" y="0"/>
                  </a:lnTo>
                  <a:cubicBezTo>
                    <a:pt x="7083298" y="0"/>
                    <a:pt x="7157720" y="74295"/>
                    <a:pt x="7157720" y="166116"/>
                  </a:cubicBezTo>
                  <a:lnTo>
                    <a:pt x="7157720" y="2693924"/>
                  </a:lnTo>
                  <a:cubicBezTo>
                    <a:pt x="7157720" y="2785618"/>
                    <a:pt x="7083425" y="2860040"/>
                    <a:pt x="699160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748272" y="3799332"/>
            <a:ext cx="685800" cy="685800"/>
            <a:chOff x="0" y="0"/>
            <a:chExt cx="914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26580" y="3977640"/>
            <a:ext cx="329184" cy="329184"/>
            <a:chOff x="0" y="0"/>
            <a:chExt cx="438912" cy="438912"/>
          </a:xfrm>
        </p:grpSpPr>
        <p:sp>
          <p:nvSpPr>
            <p:cNvPr name="Freeform 28" id="28" descr="/home/claude/work/icons/heart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748272" y="4663440"/>
            <a:ext cx="4745736" cy="438912"/>
            <a:chOff x="0" y="0"/>
            <a:chExt cx="6327648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27648" cy="585216"/>
            </a:xfrm>
            <a:custGeom>
              <a:avLst/>
              <a:gdLst/>
              <a:ahLst/>
              <a:cxnLst/>
              <a:rect r="r" b="b" t="t" l="l"/>
              <a:pathLst>
                <a:path h="585216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6327648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Limited Emotional Awareness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48272" y="5074920"/>
            <a:ext cx="4745736" cy="521208"/>
            <a:chOff x="0" y="0"/>
            <a:chExt cx="6327648" cy="6949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27648" cy="694944"/>
            </a:xfrm>
            <a:custGeom>
              <a:avLst/>
              <a:gdLst/>
              <a:ahLst/>
              <a:cxnLst/>
              <a:rect r="r" b="b" t="t" l="l"/>
              <a:pathLst>
                <a:path h="694944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16" r="0" b="-12741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327648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Responses miss caller frustration or distress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60555" y="3488055"/>
            <a:ext cx="5368290" cy="2145030"/>
            <a:chOff x="0" y="0"/>
            <a:chExt cx="7157720" cy="2860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577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15772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91604" y="0"/>
                  </a:lnTo>
                  <a:cubicBezTo>
                    <a:pt x="7083298" y="0"/>
                    <a:pt x="7157720" y="74295"/>
                    <a:pt x="7157720" y="166116"/>
                  </a:cubicBezTo>
                  <a:lnTo>
                    <a:pt x="7157720" y="2693924"/>
                  </a:lnTo>
                  <a:cubicBezTo>
                    <a:pt x="7157720" y="2785618"/>
                    <a:pt x="7083425" y="2860040"/>
                    <a:pt x="699160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371832" y="3799332"/>
            <a:ext cx="685800" cy="685800"/>
            <a:chOff x="0" y="0"/>
            <a:chExt cx="91440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550140" y="3977640"/>
            <a:ext cx="329184" cy="329184"/>
            <a:chOff x="0" y="0"/>
            <a:chExt cx="438912" cy="438912"/>
          </a:xfrm>
        </p:grpSpPr>
        <p:sp>
          <p:nvSpPr>
            <p:cNvPr name="Freeform 40" id="40" descr="/home/claude/work/icons/glob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71832" y="4663440"/>
            <a:ext cx="4745736" cy="438912"/>
            <a:chOff x="0" y="0"/>
            <a:chExt cx="6327648" cy="5852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27648" cy="585216"/>
            </a:xfrm>
            <a:custGeom>
              <a:avLst/>
              <a:gdLst/>
              <a:ahLst/>
              <a:cxnLst/>
              <a:rect r="r" b="b" t="t" l="l"/>
              <a:pathLst>
                <a:path h="585216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6327648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Code-Switching Difficulty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371832" y="5074920"/>
            <a:ext cx="4745736" cy="521208"/>
            <a:chOff x="0" y="0"/>
            <a:chExt cx="6327648" cy="6949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27648" cy="694944"/>
            </a:xfrm>
            <a:custGeom>
              <a:avLst/>
              <a:gdLst/>
              <a:ahLst/>
              <a:cxnLst/>
              <a:rect r="r" b="b" t="t" l="l"/>
              <a:pathLst>
                <a:path h="694944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16" r="0" b="-12741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327648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Poor handling of Hindi–English speech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13435" y="5888355"/>
            <a:ext cx="5368290" cy="2145030"/>
            <a:chOff x="0" y="0"/>
            <a:chExt cx="7157720" cy="2860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577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15772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91604" y="0"/>
                  </a:lnTo>
                  <a:cubicBezTo>
                    <a:pt x="7083298" y="0"/>
                    <a:pt x="7157720" y="74295"/>
                    <a:pt x="7157720" y="166116"/>
                  </a:cubicBezTo>
                  <a:lnTo>
                    <a:pt x="7157720" y="2693924"/>
                  </a:lnTo>
                  <a:cubicBezTo>
                    <a:pt x="7157720" y="2785618"/>
                    <a:pt x="7083425" y="2860040"/>
                    <a:pt x="699160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124712" y="6199632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03020" y="6377940"/>
            <a:ext cx="329184" cy="329184"/>
            <a:chOff x="0" y="0"/>
            <a:chExt cx="438912" cy="438912"/>
          </a:xfrm>
        </p:grpSpPr>
        <p:sp>
          <p:nvSpPr>
            <p:cNvPr name="Freeform 52" id="52" descr="/home/claude/work/icons/clock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24712" y="7063740"/>
            <a:ext cx="4745736" cy="438912"/>
            <a:chOff x="0" y="0"/>
            <a:chExt cx="6327648" cy="58521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27648" cy="585216"/>
            </a:xfrm>
            <a:custGeom>
              <a:avLst/>
              <a:gdLst/>
              <a:ahLst/>
              <a:cxnLst/>
              <a:rect r="r" b="b" t="t" l="l"/>
              <a:pathLst>
                <a:path h="585216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6327648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Latency Constraints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24712" y="7475220"/>
            <a:ext cx="4745736" cy="521208"/>
            <a:chOff x="0" y="0"/>
            <a:chExt cx="6327648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27648" cy="694944"/>
            </a:xfrm>
            <a:custGeom>
              <a:avLst/>
              <a:gdLst/>
              <a:ahLst/>
              <a:cxnLst/>
              <a:rect r="r" b="b" t="t" l="l"/>
              <a:pathLst>
                <a:path h="694944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16" r="0" b="-12741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6327648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Delays break natural conversational flow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436995" y="5888355"/>
            <a:ext cx="5368290" cy="2145030"/>
            <a:chOff x="0" y="0"/>
            <a:chExt cx="7157720" cy="2860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1577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15772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91604" y="0"/>
                  </a:lnTo>
                  <a:cubicBezTo>
                    <a:pt x="7083298" y="0"/>
                    <a:pt x="7157720" y="74295"/>
                    <a:pt x="7157720" y="166116"/>
                  </a:cubicBezTo>
                  <a:lnTo>
                    <a:pt x="7157720" y="2693924"/>
                  </a:lnTo>
                  <a:cubicBezTo>
                    <a:pt x="7157720" y="2785618"/>
                    <a:pt x="7083425" y="2860040"/>
                    <a:pt x="699160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748272" y="6199632"/>
            <a:ext cx="685800" cy="685800"/>
            <a:chOff x="0" y="0"/>
            <a:chExt cx="91440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926580" y="6377940"/>
            <a:ext cx="329184" cy="329184"/>
            <a:chOff x="0" y="0"/>
            <a:chExt cx="438912" cy="438912"/>
          </a:xfrm>
        </p:grpSpPr>
        <p:sp>
          <p:nvSpPr>
            <p:cNvPr name="Freeform 64" id="64" descr="/home/claude/work/icons/databas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748272" y="7063740"/>
            <a:ext cx="4745736" cy="438912"/>
            <a:chOff x="0" y="0"/>
            <a:chExt cx="6327648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327648" cy="585216"/>
            </a:xfrm>
            <a:custGeom>
              <a:avLst/>
              <a:gdLst/>
              <a:ahLst/>
              <a:cxnLst/>
              <a:rect r="r" b="b" t="t" l="l"/>
              <a:pathLst>
                <a:path h="585216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6327648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Fragmented Memory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748272" y="7475220"/>
            <a:ext cx="4745736" cy="521208"/>
            <a:chOff x="0" y="0"/>
            <a:chExt cx="6327648" cy="6949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327648" cy="694944"/>
            </a:xfrm>
            <a:custGeom>
              <a:avLst/>
              <a:gdLst/>
              <a:ahLst/>
              <a:cxnLst/>
              <a:rect r="r" b="b" t="t" l="l"/>
              <a:pathLst>
                <a:path h="694944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16" r="0" b="-12741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6327648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unified, multi-tier memory representation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060555" y="5888355"/>
            <a:ext cx="5368290" cy="2145030"/>
            <a:chOff x="0" y="0"/>
            <a:chExt cx="7157720" cy="2860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1577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7157720">
                  <a:moveTo>
                    <a:pt x="0" y="166116"/>
                  </a:moveTo>
                  <a:cubicBezTo>
                    <a:pt x="0" y="74295"/>
                    <a:pt x="74295" y="0"/>
                    <a:pt x="166116" y="0"/>
                  </a:cubicBezTo>
                  <a:lnTo>
                    <a:pt x="6991604" y="0"/>
                  </a:lnTo>
                  <a:cubicBezTo>
                    <a:pt x="7083298" y="0"/>
                    <a:pt x="7157720" y="74295"/>
                    <a:pt x="7157720" y="166116"/>
                  </a:cubicBezTo>
                  <a:lnTo>
                    <a:pt x="7157720" y="2693924"/>
                  </a:lnTo>
                  <a:cubicBezTo>
                    <a:pt x="7157720" y="2785618"/>
                    <a:pt x="7083425" y="2860040"/>
                    <a:pt x="6991604" y="2860040"/>
                  </a:cubicBezTo>
                  <a:lnTo>
                    <a:pt x="166116" y="2860040"/>
                  </a:lnTo>
                  <a:cubicBezTo>
                    <a:pt x="74295" y="2860040"/>
                    <a:pt x="0" y="2785745"/>
                    <a:pt x="0" y="26939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2371832" y="6199632"/>
            <a:ext cx="685800" cy="685800"/>
            <a:chOff x="0" y="0"/>
            <a:chExt cx="91440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550140" y="6377940"/>
            <a:ext cx="329184" cy="329184"/>
            <a:chOff x="0" y="0"/>
            <a:chExt cx="438912" cy="438912"/>
          </a:xfrm>
        </p:grpSpPr>
        <p:sp>
          <p:nvSpPr>
            <p:cNvPr name="Freeform 76" id="76" descr="/home/claude/work/icons/puzzl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371832" y="7063740"/>
            <a:ext cx="4745736" cy="438912"/>
            <a:chOff x="0" y="0"/>
            <a:chExt cx="6327648" cy="58521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27648" cy="585216"/>
            </a:xfrm>
            <a:custGeom>
              <a:avLst/>
              <a:gdLst/>
              <a:ahLst/>
              <a:cxnLst/>
              <a:rect r="r" b="b" t="t" l="l"/>
              <a:pathLst>
                <a:path h="585216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681" r="0" b="-16068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6327648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Complex Testing Workflows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71832" y="7475220"/>
            <a:ext cx="4745736" cy="521208"/>
            <a:chOff x="0" y="0"/>
            <a:chExt cx="6327648" cy="69494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27648" cy="694944"/>
            </a:xfrm>
            <a:custGeom>
              <a:avLst/>
              <a:gdLst/>
              <a:ahLst/>
              <a:cxnLst/>
              <a:rect r="r" b="b" t="t" l="l"/>
              <a:pathLst>
                <a:path h="694944" w="6327648">
                  <a:moveTo>
                    <a:pt x="0" y="0"/>
                  </a:moveTo>
                  <a:lnTo>
                    <a:pt x="6327648" y="0"/>
                  </a:lnTo>
                  <a:lnTo>
                    <a:pt x="63276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16" r="0" b="-12741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6327648" cy="7235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4"/>
                </a:lnSpc>
              </a:pPr>
              <a:r>
                <a:rPr lang="en-US" sz="157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Often depend on physical telephony setups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RESEARCH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This Project Sets Out to Achieve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22195"/>
            <a:ext cx="8111490" cy="1322070"/>
            <a:chOff x="0" y="0"/>
            <a:chExt cx="10815320" cy="1762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4712" y="2654046"/>
            <a:ext cx="658368" cy="658368"/>
            <a:chOff x="0" y="0"/>
            <a:chExt cx="877824" cy="8778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4712" y="2654046"/>
            <a:ext cx="658368" cy="658368"/>
            <a:chOff x="0" y="0"/>
            <a:chExt cx="877824" cy="8778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7400" y="2441448"/>
            <a:ext cx="6583680" cy="1083564"/>
            <a:chOff x="0" y="0"/>
            <a:chExt cx="8778240" cy="1444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a layered architecture separating client, API, storage, real-time voice and asynchronous processing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3435" y="3789807"/>
            <a:ext cx="8111490" cy="1322070"/>
            <a:chOff x="0" y="0"/>
            <a:chExt cx="10815320" cy="1762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24712" y="4121658"/>
            <a:ext cx="658368" cy="658368"/>
            <a:chOff x="0" y="0"/>
            <a:chExt cx="877824" cy="877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24712" y="4121658"/>
            <a:ext cx="658368" cy="658368"/>
            <a:chOff x="0" y="0"/>
            <a:chExt cx="877824" cy="87782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57400" y="3909060"/>
            <a:ext cx="6583680" cy="1083564"/>
            <a:chOff x="0" y="0"/>
            <a:chExt cx="8778240" cy="1444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a four-tier hybrid memory architecture: short-term, semantic, episodic and knowledge-graph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435" y="5257419"/>
            <a:ext cx="8111490" cy="1322070"/>
            <a:chOff x="0" y="0"/>
            <a:chExt cx="10815320" cy="1762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24712" y="5589270"/>
            <a:ext cx="658368" cy="658368"/>
            <a:chOff x="0" y="0"/>
            <a:chExt cx="877824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24712" y="5589270"/>
            <a:ext cx="658368" cy="658368"/>
            <a:chOff x="0" y="0"/>
            <a:chExt cx="877824" cy="87782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5376672"/>
            <a:ext cx="6583680" cy="1083564"/>
            <a:chOff x="0" y="0"/>
            <a:chExt cx="8778240" cy="1444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a dual-signal emotion fusion mechanism combining acoustic and textual signals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6725031"/>
            <a:ext cx="8111490" cy="1322070"/>
            <a:chOff x="0" y="0"/>
            <a:chExt cx="10815320" cy="1762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24712" y="7056882"/>
            <a:ext cx="658368" cy="658368"/>
            <a:chOff x="0" y="0"/>
            <a:chExt cx="877824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24712" y="7056882"/>
            <a:ext cx="658368" cy="658368"/>
            <a:chOff x="0" y="0"/>
            <a:chExt cx="877824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57400" y="6844284"/>
            <a:ext cx="6583680" cy="1083564"/>
            <a:chOff x="0" y="0"/>
            <a:chExt cx="8778240" cy="1444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structured intent &amp; slot reasoning through the VA-ICECoT architecture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85935" y="2322195"/>
            <a:ext cx="8111490" cy="1322070"/>
            <a:chOff x="0" y="0"/>
            <a:chExt cx="10815320" cy="1762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697212" y="2654046"/>
            <a:ext cx="658368" cy="658368"/>
            <a:chOff x="0" y="0"/>
            <a:chExt cx="877824" cy="87782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97212" y="2654046"/>
            <a:ext cx="658368" cy="658368"/>
            <a:chOff x="0" y="0"/>
            <a:chExt cx="877824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629900" y="2441448"/>
            <a:ext cx="6583680" cy="1083564"/>
            <a:chOff x="0" y="0"/>
            <a:chExt cx="8778240" cy="14447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English and Hindi–English code-switched voice interaction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85935" y="3789807"/>
            <a:ext cx="8111490" cy="1322070"/>
            <a:chOff x="0" y="0"/>
            <a:chExt cx="10815320" cy="1762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97212" y="4121658"/>
            <a:ext cx="658368" cy="658368"/>
            <a:chOff x="0" y="0"/>
            <a:chExt cx="877824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97212" y="4121658"/>
            <a:ext cx="658368" cy="658368"/>
            <a:chOff x="0" y="0"/>
            <a:chExt cx="877824" cy="8778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629900" y="3909060"/>
            <a:ext cx="6583680" cy="1083564"/>
            <a:chOff x="0" y="0"/>
            <a:chExt cx="8778240" cy="1444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a browser-based Web Call environment for agent testing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85935" y="5257419"/>
            <a:ext cx="8111490" cy="1322070"/>
            <a:chOff x="0" y="0"/>
            <a:chExt cx="10815320" cy="17627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15320" cy="1762760"/>
            </a:xfrm>
            <a:custGeom>
              <a:avLst/>
              <a:gdLst/>
              <a:ahLst/>
              <a:cxnLst/>
              <a:rect r="r" b="b" t="t" l="l"/>
              <a:pathLst>
                <a:path h="1762760" w="10815320">
                  <a:moveTo>
                    <a:pt x="0" y="167005"/>
                  </a:moveTo>
                  <a:cubicBezTo>
                    <a:pt x="0" y="74803"/>
                    <a:pt x="74803" y="0"/>
                    <a:pt x="167005" y="0"/>
                  </a:cubicBezTo>
                  <a:lnTo>
                    <a:pt x="10648315" y="0"/>
                  </a:lnTo>
                  <a:cubicBezTo>
                    <a:pt x="10740517" y="0"/>
                    <a:pt x="10815320" y="74803"/>
                    <a:pt x="10815320" y="167005"/>
                  </a:cubicBezTo>
                  <a:lnTo>
                    <a:pt x="10815320" y="1595755"/>
                  </a:lnTo>
                  <a:cubicBezTo>
                    <a:pt x="10815320" y="1687957"/>
                    <a:pt x="10740517" y="1762760"/>
                    <a:pt x="10648315" y="1762760"/>
                  </a:cubicBezTo>
                  <a:lnTo>
                    <a:pt x="167005" y="1762760"/>
                  </a:lnTo>
                  <a:cubicBezTo>
                    <a:pt x="74803" y="1762760"/>
                    <a:pt x="0" y="1687957"/>
                    <a:pt x="0" y="159575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697212" y="5589270"/>
            <a:ext cx="658368" cy="658368"/>
            <a:chOff x="0" y="0"/>
            <a:chExt cx="877824" cy="87782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697212" y="5589270"/>
            <a:ext cx="658368" cy="658368"/>
            <a:chOff x="0" y="0"/>
            <a:chExt cx="877824" cy="87782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877824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629900" y="5376672"/>
            <a:ext cx="6583680" cy="1083564"/>
            <a:chOff x="0" y="0"/>
            <a:chExt cx="8778240" cy="144475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778240" cy="1444752"/>
            </a:xfrm>
            <a:custGeom>
              <a:avLst/>
              <a:gdLst/>
              <a:ahLst/>
              <a:cxnLst/>
              <a:rect r="r" b="b" t="t" l="l"/>
              <a:pathLst>
                <a:path h="1444752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44752"/>
                  </a:lnTo>
                  <a:lnTo>
                    <a:pt x="0" y="1444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90" r="0" b="-683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8778240" cy="1501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6"/>
                </a:lnSpc>
              </a:pPr>
              <a:r>
                <a:rPr lang="en-US" sz="177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Provide an Agent Studio for configuration, memory, voice, integrations and analytics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VoCall — Major Contributions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6596360" cy="822960"/>
            <a:chOff x="0" y="0"/>
            <a:chExt cx="221284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28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21284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VoCall combines real-time voice interaction with persistent memory, emotion intelligence, intent reasoning, Hinglish support and developer-oriented configuration in one modular architecture.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22960" y="3017520"/>
          <a:ext cx="16630650" cy="5467350"/>
        </p:xfrm>
        <a:graphic>
          <a:graphicData uri="http://schemas.openxmlformats.org/drawingml/2006/table">
            <a:tbl>
              <a:tblPr/>
              <a:tblGrid>
                <a:gridCol w="4120436"/>
                <a:gridCol w="4938840"/>
                <a:gridCol w="7571373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Contribution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Challenge Addressed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VoCall Approach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Persistent Memory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Context loss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1013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Four-tier hybrid memory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Emotion Intelligence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Limited emotional awareness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1013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Acoustic + textual emotion fusion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Intent Reasoning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Basic intent classification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1013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Intent, slot &amp; emotion reasoning (VA-ICECoT)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Hinglish Processing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Monolingual limitations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1013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Language-aware STT/TTS routing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Real-Time Interaction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Conversational latency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1013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Streaming voice pipeline (Pipecat + LiveKit)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Browser Testing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Telephony dependency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1013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Web Call testing studio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Layered, Modular Platform Design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77640" y="2221992"/>
            <a:ext cx="10287000" cy="905256"/>
            <a:chOff x="0" y="0"/>
            <a:chExt cx="13716000" cy="12070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37160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3587985" y="0"/>
                  </a:lnTo>
                  <a:cubicBezTo>
                    <a:pt x="13658723" y="0"/>
                    <a:pt x="13716000" y="57277"/>
                    <a:pt x="13716000" y="128016"/>
                  </a:cubicBezTo>
                  <a:lnTo>
                    <a:pt x="13716000" y="1078992"/>
                  </a:lnTo>
                  <a:cubicBezTo>
                    <a:pt x="13716000" y="1149731"/>
                    <a:pt x="13658723" y="1207008"/>
                    <a:pt x="13587985" y="1207008"/>
                  </a:cubicBezTo>
                  <a:lnTo>
                    <a:pt x="128016" y="1207008"/>
                  </a:lnTo>
                  <a:cubicBezTo>
                    <a:pt x="57277" y="1207008"/>
                    <a:pt x="0" y="1149731"/>
                    <a:pt x="0" y="1078992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97096" y="2414016"/>
            <a:ext cx="521208" cy="521208"/>
            <a:chOff x="0" y="0"/>
            <a:chExt cx="694944" cy="6949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A447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332608" y="2549528"/>
            <a:ext cx="250184" cy="250184"/>
            <a:chOff x="0" y="0"/>
            <a:chExt cx="333578" cy="333578"/>
          </a:xfrm>
        </p:grpSpPr>
        <p:sp>
          <p:nvSpPr>
            <p:cNvPr name="Freeform 13" id="13" descr="/home/claude/work/icons/layers.png"/>
            <p:cNvSpPr/>
            <p:nvPr/>
          </p:nvSpPr>
          <p:spPr>
            <a:xfrm flipH="false" flipV="false" rot="0">
              <a:off x="0" y="0"/>
              <a:ext cx="333629" cy="333629"/>
            </a:xfrm>
            <a:custGeom>
              <a:avLst/>
              <a:gdLst/>
              <a:ahLst/>
              <a:cxnLst/>
              <a:rect r="r" b="b" t="t" l="l"/>
              <a:pathLst>
                <a:path h="333629" w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5" b="1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37760" y="2221992"/>
            <a:ext cx="4594860" cy="905256"/>
            <a:chOff x="0" y="0"/>
            <a:chExt cx="6126480" cy="12070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26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1" r="0" b="-489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12648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Client Layer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69780" y="2221992"/>
            <a:ext cx="4389120" cy="905256"/>
            <a:chOff x="0" y="0"/>
            <a:chExt cx="5852160" cy="12070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85216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D7DC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Dashboard, Agent Studio, Web Call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915400" y="3099816"/>
            <a:ext cx="411480" cy="246888"/>
            <a:chOff x="0" y="0"/>
            <a:chExt cx="548640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" cy="329184"/>
            </a:xfrm>
            <a:custGeom>
              <a:avLst/>
              <a:gdLst/>
              <a:ahLst/>
              <a:cxnLst/>
              <a:rect r="r" b="b" t="t" l="l"/>
              <a:pathLst>
                <a:path h="329184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5486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450C7"/>
                  </a:solidFill>
                  <a:latin typeface="Arial"/>
                  <a:ea typeface="Arial"/>
                  <a:cs typeface="Arial"/>
                  <a:sym typeface="Arial"/>
                </a:rPr>
                <a:t>▼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77640" y="3312414"/>
            <a:ext cx="10287000" cy="905256"/>
            <a:chOff x="0" y="0"/>
            <a:chExt cx="13716000" cy="12070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16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37160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3587985" y="0"/>
                  </a:lnTo>
                  <a:cubicBezTo>
                    <a:pt x="13658723" y="0"/>
                    <a:pt x="13716000" y="57277"/>
                    <a:pt x="13716000" y="128016"/>
                  </a:cubicBezTo>
                  <a:lnTo>
                    <a:pt x="13716000" y="1078992"/>
                  </a:lnTo>
                  <a:cubicBezTo>
                    <a:pt x="13716000" y="1149731"/>
                    <a:pt x="13658723" y="1207008"/>
                    <a:pt x="13587985" y="1207008"/>
                  </a:cubicBezTo>
                  <a:lnTo>
                    <a:pt x="128016" y="1207008"/>
                  </a:lnTo>
                  <a:cubicBezTo>
                    <a:pt x="57277" y="1207008"/>
                    <a:pt x="0" y="1149731"/>
                    <a:pt x="0" y="1078992"/>
                  </a:cubicBezTo>
                  <a:close/>
                </a:path>
              </a:pathLst>
            </a:custGeom>
            <a:solidFill>
              <a:srgbClr val="141A4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197096" y="3504438"/>
            <a:ext cx="521208" cy="521208"/>
            <a:chOff x="0" y="0"/>
            <a:chExt cx="694944" cy="6949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A447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332608" y="3639950"/>
            <a:ext cx="250184" cy="250184"/>
            <a:chOff x="0" y="0"/>
            <a:chExt cx="333578" cy="333578"/>
          </a:xfrm>
        </p:grpSpPr>
        <p:sp>
          <p:nvSpPr>
            <p:cNvPr name="Freeform 28" id="28" descr="/home/claude/work/icons/server.png"/>
            <p:cNvSpPr/>
            <p:nvPr/>
          </p:nvSpPr>
          <p:spPr>
            <a:xfrm flipH="false" flipV="false" rot="0">
              <a:off x="0" y="0"/>
              <a:ext cx="333629" cy="333629"/>
            </a:xfrm>
            <a:custGeom>
              <a:avLst/>
              <a:gdLst/>
              <a:ahLst/>
              <a:cxnLst/>
              <a:rect r="r" b="b" t="t" l="l"/>
              <a:pathLst>
                <a:path h="333629" w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5" b="1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937760" y="3312414"/>
            <a:ext cx="4594860" cy="905256"/>
            <a:chOff x="0" y="0"/>
            <a:chExt cx="6126480" cy="12070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26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1" r="0" b="-489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612648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API Layer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69780" y="3312414"/>
            <a:ext cx="4389120" cy="905256"/>
            <a:chOff x="0" y="0"/>
            <a:chExt cx="5852160" cy="12070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21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85216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D7DC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FastAPI services (auth, agents, calls, memory)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15400" y="4190238"/>
            <a:ext cx="411480" cy="246888"/>
            <a:chOff x="0" y="0"/>
            <a:chExt cx="548640" cy="3291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" cy="329184"/>
            </a:xfrm>
            <a:custGeom>
              <a:avLst/>
              <a:gdLst/>
              <a:ahLst/>
              <a:cxnLst/>
              <a:rect r="r" b="b" t="t" l="l"/>
              <a:pathLst>
                <a:path h="329184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486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450C7"/>
                  </a:solidFill>
                  <a:latin typeface="Arial"/>
                  <a:ea typeface="Arial"/>
                  <a:cs typeface="Arial"/>
                  <a:sym typeface="Arial"/>
                </a:rPr>
                <a:t>▼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977640" y="4402836"/>
            <a:ext cx="10287000" cy="905256"/>
            <a:chOff x="0" y="0"/>
            <a:chExt cx="13716000" cy="120700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716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37160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3587985" y="0"/>
                  </a:lnTo>
                  <a:cubicBezTo>
                    <a:pt x="13658723" y="0"/>
                    <a:pt x="13716000" y="57277"/>
                    <a:pt x="13716000" y="128016"/>
                  </a:cubicBezTo>
                  <a:lnTo>
                    <a:pt x="13716000" y="1078992"/>
                  </a:lnTo>
                  <a:cubicBezTo>
                    <a:pt x="13716000" y="1149731"/>
                    <a:pt x="13658723" y="1207008"/>
                    <a:pt x="13587985" y="1207008"/>
                  </a:cubicBezTo>
                  <a:lnTo>
                    <a:pt x="128016" y="1207008"/>
                  </a:lnTo>
                  <a:cubicBezTo>
                    <a:pt x="57277" y="1207008"/>
                    <a:pt x="0" y="1149731"/>
                    <a:pt x="0" y="1078992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197096" y="4594860"/>
            <a:ext cx="521208" cy="521208"/>
            <a:chOff x="0" y="0"/>
            <a:chExt cx="694944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A4478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332608" y="4730372"/>
            <a:ext cx="250184" cy="250184"/>
            <a:chOff x="0" y="0"/>
            <a:chExt cx="333578" cy="333578"/>
          </a:xfrm>
        </p:grpSpPr>
        <p:sp>
          <p:nvSpPr>
            <p:cNvPr name="Freeform 43" id="43" descr="/home/claude/work/icons/brain.png"/>
            <p:cNvSpPr/>
            <p:nvPr/>
          </p:nvSpPr>
          <p:spPr>
            <a:xfrm flipH="false" flipV="false" rot="0">
              <a:off x="0" y="0"/>
              <a:ext cx="333629" cy="333629"/>
            </a:xfrm>
            <a:custGeom>
              <a:avLst/>
              <a:gdLst/>
              <a:ahLst/>
              <a:cxnLst/>
              <a:rect r="r" b="b" t="t" l="l"/>
              <a:pathLst>
                <a:path h="333629" w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5" b="1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4937760" y="4402836"/>
            <a:ext cx="4594860" cy="905256"/>
            <a:chOff x="0" y="0"/>
            <a:chExt cx="6126480" cy="12070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26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1" r="0" b="-489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12648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Memory, Emotion &amp; Intent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69780" y="4402836"/>
            <a:ext cx="4389120" cy="905256"/>
            <a:chOff x="0" y="0"/>
            <a:chExt cx="5852160" cy="12070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85216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D7DC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Four-tier memory, emotion fusion, VA-ICECoT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915400" y="5280660"/>
            <a:ext cx="411480" cy="246888"/>
            <a:chOff x="0" y="0"/>
            <a:chExt cx="548640" cy="3291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" cy="329184"/>
            </a:xfrm>
            <a:custGeom>
              <a:avLst/>
              <a:gdLst/>
              <a:ahLst/>
              <a:cxnLst/>
              <a:rect r="r" b="b" t="t" l="l"/>
              <a:pathLst>
                <a:path h="329184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5486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450C7"/>
                  </a:solidFill>
                  <a:latin typeface="Arial"/>
                  <a:ea typeface="Arial"/>
                  <a:cs typeface="Arial"/>
                  <a:sym typeface="Arial"/>
                </a:rPr>
                <a:t>▼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977640" y="5493258"/>
            <a:ext cx="10287000" cy="905256"/>
            <a:chOff x="0" y="0"/>
            <a:chExt cx="13716000" cy="12070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716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37160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3587985" y="0"/>
                  </a:lnTo>
                  <a:cubicBezTo>
                    <a:pt x="13658723" y="0"/>
                    <a:pt x="13716000" y="57277"/>
                    <a:pt x="13716000" y="128016"/>
                  </a:cubicBezTo>
                  <a:lnTo>
                    <a:pt x="13716000" y="1078992"/>
                  </a:lnTo>
                  <a:cubicBezTo>
                    <a:pt x="13716000" y="1149731"/>
                    <a:pt x="13658723" y="1207008"/>
                    <a:pt x="13587985" y="1207008"/>
                  </a:cubicBezTo>
                  <a:lnTo>
                    <a:pt x="128016" y="1207008"/>
                  </a:lnTo>
                  <a:cubicBezTo>
                    <a:pt x="57277" y="1207008"/>
                    <a:pt x="0" y="1149731"/>
                    <a:pt x="0" y="1078992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197096" y="5685282"/>
            <a:ext cx="521208" cy="521208"/>
            <a:chOff x="0" y="0"/>
            <a:chExt cx="694944" cy="69494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A4478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332608" y="5820794"/>
            <a:ext cx="250184" cy="250184"/>
            <a:chOff x="0" y="0"/>
            <a:chExt cx="333578" cy="333578"/>
          </a:xfrm>
        </p:grpSpPr>
        <p:sp>
          <p:nvSpPr>
            <p:cNvPr name="Freeform 58" id="58" descr="/home/claude/work/icons/mic.png"/>
            <p:cNvSpPr/>
            <p:nvPr/>
          </p:nvSpPr>
          <p:spPr>
            <a:xfrm flipH="false" flipV="false" rot="0">
              <a:off x="0" y="0"/>
              <a:ext cx="333629" cy="333629"/>
            </a:xfrm>
            <a:custGeom>
              <a:avLst/>
              <a:gdLst/>
              <a:ahLst/>
              <a:cxnLst/>
              <a:rect r="r" b="b" t="t" l="l"/>
              <a:pathLst>
                <a:path h="333629" w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5" b="1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937760" y="5493258"/>
            <a:ext cx="4594860" cy="905256"/>
            <a:chOff x="0" y="0"/>
            <a:chExt cx="6126480" cy="12070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126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1" r="0" b="-4890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612648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Real-Time Voice Pipeline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69780" y="5493258"/>
            <a:ext cx="4389120" cy="905256"/>
            <a:chOff x="0" y="0"/>
            <a:chExt cx="5852160" cy="12070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585216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D7DC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Pipecat orchestration + LiveKit WebRTC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915400" y="6371082"/>
            <a:ext cx="411480" cy="246888"/>
            <a:chOff x="0" y="0"/>
            <a:chExt cx="548640" cy="3291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8640" cy="329184"/>
            </a:xfrm>
            <a:custGeom>
              <a:avLst/>
              <a:gdLst/>
              <a:ahLst/>
              <a:cxnLst/>
              <a:rect r="r" b="b" t="t" l="l"/>
              <a:pathLst>
                <a:path h="329184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5486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450C7"/>
                  </a:solidFill>
                  <a:latin typeface="Arial"/>
                  <a:ea typeface="Arial"/>
                  <a:cs typeface="Arial"/>
                  <a:sym typeface="Arial"/>
                </a:rPr>
                <a:t>▼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977640" y="6583680"/>
            <a:ext cx="10287000" cy="905256"/>
            <a:chOff x="0" y="0"/>
            <a:chExt cx="13716000" cy="12070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3716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37160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3587985" y="0"/>
                  </a:lnTo>
                  <a:cubicBezTo>
                    <a:pt x="13658723" y="0"/>
                    <a:pt x="13716000" y="57277"/>
                    <a:pt x="13716000" y="128016"/>
                  </a:cubicBezTo>
                  <a:lnTo>
                    <a:pt x="13716000" y="1078992"/>
                  </a:lnTo>
                  <a:cubicBezTo>
                    <a:pt x="13716000" y="1149731"/>
                    <a:pt x="13658723" y="1207008"/>
                    <a:pt x="13587985" y="1207008"/>
                  </a:cubicBezTo>
                  <a:lnTo>
                    <a:pt x="128016" y="1207008"/>
                  </a:lnTo>
                  <a:cubicBezTo>
                    <a:pt x="57277" y="1207008"/>
                    <a:pt x="0" y="1149731"/>
                    <a:pt x="0" y="1078992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197096" y="6775704"/>
            <a:ext cx="521208" cy="521208"/>
            <a:chOff x="0" y="0"/>
            <a:chExt cx="694944" cy="69494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A4478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332608" y="6911216"/>
            <a:ext cx="250184" cy="250184"/>
            <a:chOff x="0" y="0"/>
            <a:chExt cx="333578" cy="333578"/>
          </a:xfrm>
        </p:grpSpPr>
        <p:sp>
          <p:nvSpPr>
            <p:cNvPr name="Freeform 73" id="73" descr="/home/claude/work/icons/cloud.png"/>
            <p:cNvSpPr/>
            <p:nvPr/>
          </p:nvSpPr>
          <p:spPr>
            <a:xfrm flipH="false" flipV="false" rot="0">
              <a:off x="0" y="0"/>
              <a:ext cx="333629" cy="333629"/>
            </a:xfrm>
            <a:custGeom>
              <a:avLst/>
              <a:gdLst/>
              <a:ahLst/>
              <a:cxnLst/>
              <a:rect r="r" b="b" t="t" l="l"/>
              <a:pathLst>
                <a:path h="333629" w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5" b="1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4937760" y="6583680"/>
            <a:ext cx="4594860" cy="905256"/>
            <a:chOff x="0" y="0"/>
            <a:chExt cx="6126480" cy="120700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126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1" r="0" b="-4890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612648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External AI Services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69780" y="6583680"/>
            <a:ext cx="4389120" cy="905256"/>
            <a:chOff x="0" y="0"/>
            <a:chExt cx="5852160" cy="12070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21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585216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D7DC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LLM, STT, TTS, Emotion providers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915400" y="7461504"/>
            <a:ext cx="411480" cy="246888"/>
            <a:chOff x="0" y="0"/>
            <a:chExt cx="548640" cy="32918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8640" cy="329184"/>
            </a:xfrm>
            <a:custGeom>
              <a:avLst/>
              <a:gdLst/>
              <a:ahLst/>
              <a:cxnLst/>
              <a:rect r="r" b="b" t="t" l="l"/>
              <a:pathLst>
                <a:path h="329184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48640" cy="3482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450C7"/>
                  </a:solidFill>
                  <a:latin typeface="Arial"/>
                  <a:ea typeface="Arial"/>
                  <a:cs typeface="Arial"/>
                  <a:sym typeface="Arial"/>
                </a:rPr>
                <a:t>▼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3977640" y="7674102"/>
            <a:ext cx="10287000" cy="905256"/>
            <a:chOff x="0" y="0"/>
            <a:chExt cx="13716000" cy="12070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71600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37160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13587985" y="0"/>
                  </a:lnTo>
                  <a:cubicBezTo>
                    <a:pt x="13658723" y="0"/>
                    <a:pt x="13716000" y="57277"/>
                    <a:pt x="13716000" y="128016"/>
                  </a:cubicBezTo>
                  <a:lnTo>
                    <a:pt x="13716000" y="1078992"/>
                  </a:lnTo>
                  <a:cubicBezTo>
                    <a:pt x="13716000" y="1149731"/>
                    <a:pt x="13658723" y="1207008"/>
                    <a:pt x="13587985" y="1207008"/>
                  </a:cubicBezTo>
                  <a:lnTo>
                    <a:pt x="128016" y="1207008"/>
                  </a:lnTo>
                  <a:cubicBezTo>
                    <a:pt x="57277" y="1207008"/>
                    <a:pt x="0" y="1149731"/>
                    <a:pt x="0" y="1078992"/>
                  </a:cubicBezTo>
                  <a:close/>
                </a:path>
              </a:pathLst>
            </a:custGeom>
            <a:solidFill>
              <a:srgbClr val="141A42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197096" y="7866126"/>
            <a:ext cx="521208" cy="521208"/>
            <a:chOff x="0" y="0"/>
            <a:chExt cx="694944" cy="69494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347472"/>
                  </a:moveTo>
                  <a:cubicBezTo>
                    <a:pt x="0" y="155575"/>
                    <a:pt x="155575" y="0"/>
                    <a:pt x="347472" y="0"/>
                  </a:cubicBezTo>
                  <a:cubicBezTo>
                    <a:pt x="539369" y="0"/>
                    <a:pt x="694944" y="155575"/>
                    <a:pt x="694944" y="347472"/>
                  </a:cubicBezTo>
                  <a:cubicBezTo>
                    <a:pt x="694944" y="539369"/>
                    <a:pt x="539369" y="694944"/>
                    <a:pt x="347472" y="694944"/>
                  </a:cubicBezTo>
                  <a:cubicBezTo>
                    <a:pt x="155575" y="694944"/>
                    <a:pt x="0" y="539369"/>
                    <a:pt x="0" y="347472"/>
                  </a:cubicBezTo>
                  <a:close/>
                </a:path>
              </a:pathLst>
            </a:custGeom>
            <a:solidFill>
              <a:srgbClr val="3A4478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332608" y="8001638"/>
            <a:ext cx="250184" cy="250184"/>
            <a:chOff x="0" y="0"/>
            <a:chExt cx="333578" cy="333578"/>
          </a:xfrm>
        </p:grpSpPr>
        <p:sp>
          <p:nvSpPr>
            <p:cNvPr name="Freeform 88" id="88" descr="/home/claude/work/icons/gauge.png"/>
            <p:cNvSpPr/>
            <p:nvPr/>
          </p:nvSpPr>
          <p:spPr>
            <a:xfrm flipH="false" flipV="false" rot="0">
              <a:off x="0" y="0"/>
              <a:ext cx="333629" cy="333629"/>
            </a:xfrm>
            <a:custGeom>
              <a:avLst/>
              <a:gdLst/>
              <a:ahLst/>
              <a:cxnLst/>
              <a:rect r="r" b="b" t="t" l="l"/>
              <a:pathLst>
                <a:path h="333629" w="333629">
                  <a:moveTo>
                    <a:pt x="0" y="0"/>
                  </a:moveTo>
                  <a:lnTo>
                    <a:pt x="333629" y="0"/>
                  </a:lnTo>
                  <a:lnTo>
                    <a:pt x="333629" y="333629"/>
                  </a:lnTo>
                  <a:lnTo>
                    <a:pt x="0" y="33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5" b="15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4937760" y="7674102"/>
            <a:ext cx="4594860" cy="905256"/>
            <a:chOff x="0" y="0"/>
            <a:chExt cx="6126480" cy="12070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126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901" r="0" b="-4890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612648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Async Post-Call Processing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669780" y="7674102"/>
            <a:ext cx="4389120" cy="905256"/>
            <a:chOff x="0" y="0"/>
            <a:chExt cx="5852160" cy="12070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52160" cy="1207008"/>
            </a:xfrm>
            <a:custGeom>
              <a:avLst/>
              <a:gdLst/>
              <a:ahLst/>
              <a:cxnLst/>
              <a:rect r="r" b="b" t="t" l="l"/>
              <a:pathLst>
                <a:path h="1207008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72" r="0" b="-4447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5852160" cy="1235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4"/>
                </a:lnSpc>
              </a:pPr>
              <a:r>
                <a:rPr lang="en-US" sz="1620">
                  <a:solidFill>
                    <a:srgbClr val="D7DCF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Trigger.dev — summarization, memory updates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8833104"/>
            <a:ext cx="16596360" cy="548640"/>
            <a:chOff x="0" y="0"/>
            <a:chExt cx="2212848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28575"/>
              <a:ext cx="2212848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4A5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Time-sensitive voice operations stay decoupled from slower post-call activities such as summarization and memory consolidation.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Technology Stack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253615"/>
            <a:ext cx="8111490" cy="1006602"/>
            <a:chOff x="0" y="0"/>
            <a:chExt cx="10815320" cy="1342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2263140"/>
            <a:ext cx="109728" cy="987552"/>
            <a:chOff x="0" y="0"/>
            <a:chExt cx="146304" cy="13167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008" y="2345436"/>
            <a:ext cx="7406640" cy="411480"/>
            <a:chOff x="0" y="0"/>
            <a:chExt cx="987552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7008" y="2743200"/>
            <a:ext cx="7406640" cy="411480"/>
            <a:chOff x="0" y="0"/>
            <a:chExt cx="98755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Next.js, React, TypeScript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3435" y="3378327"/>
            <a:ext cx="8111490" cy="1006602"/>
            <a:chOff x="0" y="0"/>
            <a:chExt cx="10815320" cy="1342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3387852"/>
            <a:ext cx="109728" cy="987552"/>
            <a:chOff x="0" y="0"/>
            <a:chExt cx="146304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008" y="3470148"/>
            <a:ext cx="7406640" cy="411480"/>
            <a:chOff x="0" y="0"/>
            <a:chExt cx="98755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Styling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7008" y="3867912"/>
            <a:ext cx="7406640" cy="411480"/>
            <a:chOff x="0" y="0"/>
            <a:chExt cx="987552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Tailwind CSS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435" y="4503039"/>
            <a:ext cx="8111490" cy="1006602"/>
            <a:chOff x="0" y="0"/>
            <a:chExt cx="10815320" cy="13421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4512564"/>
            <a:ext cx="109728" cy="987552"/>
            <a:chOff x="0" y="0"/>
            <a:chExt cx="146304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07008" y="4594860"/>
            <a:ext cx="7406640" cy="411480"/>
            <a:chOff x="0" y="0"/>
            <a:chExt cx="987552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7008" y="4992624"/>
            <a:ext cx="7406640" cy="411480"/>
            <a:chOff x="0" y="0"/>
            <a:chExt cx="9875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Python, FastAPI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5627751"/>
            <a:ext cx="8111490" cy="1006602"/>
            <a:chOff x="0" y="0"/>
            <a:chExt cx="10815320" cy="1342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5637276"/>
            <a:ext cx="109728" cy="987552"/>
            <a:chOff x="0" y="0"/>
            <a:chExt cx="146304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008" y="5719572"/>
            <a:ext cx="7406640" cy="411480"/>
            <a:chOff x="0" y="0"/>
            <a:chExt cx="987552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Voice Orchestration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7008" y="6117336"/>
            <a:ext cx="7406640" cy="411480"/>
            <a:chOff x="0" y="0"/>
            <a:chExt cx="987552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Pipecat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3435" y="6752463"/>
            <a:ext cx="8111490" cy="1006602"/>
            <a:chOff x="0" y="0"/>
            <a:chExt cx="10815320" cy="13421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6761988"/>
            <a:ext cx="109728" cy="987552"/>
            <a:chOff x="0" y="0"/>
            <a:chExt cx="146304" cy="13167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07008" y="6844284"/>
            <a:ext cx="7406640" cy="411480"/>
            <a:chOff x="0" y="0"/>
            <a:chExt cx="98755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WebRTC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07008" y="7242048"/>
            <a:ext cx="7406640" cy="411480"/>
            <a:chOff x="0" y="0"/>
            <a:chExt cx="987552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LiveKit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13435" y="7877175"/>
            <a:ext cx="8111490" cy="1006602"/>
            <a:chOff x="0" y="0"/>
            <a:chExt cx="10815320" cy="13421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7886700"/>
            <a:ext cx="109728" cy="987552"/>
            <a:chOff x="0" y="0"/>
            <a:chExt cx="146304" cy="13167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07008" y="7968996"/>
            <a:ext cx="7406640" cy="411480"/>
            <a:chOff x="0" y="0"/>
            <a:chExt cx="987552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07008" y="8366760"/>
            <a:ext cx="7406640" cy="411480"/>
            <a:chOff x="0" y="0"/>
            <a:chExt cx="987552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Groq LLaMA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58503" y="2253615"/>
            <a:ext cx="8111490" cy="1006602"/>
            <a:chOff x="0" y="0"/>
            <a:chExt cx="10815320" cy="13421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368028" y="2263140"/>
            <a:ext cx="109728" cy="987552"/>
            <a:chOff x="0" y="0"/>
            <a:chExt cx="146304" cy="13167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752076" y="2345436"/>
            <a:ext cx="7406640" cy="411480"/>
            <a:chOff x="0" y="0"/>
            <a:chExt cx="987552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STT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752076" y="2743200"/>
            <a:ext cx="7406640" cy="411480"/>
            <a:chOff x="0" y="0"/>
            <a:chExt cx="987552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Whisper / Sarvam AI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358503" y="3378327"/>
            <a:ext cx="8111490" cy="1006602"/>
            <a:chOff x="0" y="0"/>
            <a:chExt cx="10815320" cy="134213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368028" y="3387852"/>
            <a:ext cx="109728" cy="987552"/>
            <a:chOff x="0" y="0"/>
            <a:chExt cx="146304" cy="1316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752076" y="3470148"/>
            <a:ext cx="7406640" cy="411480"/>
            <a:chOff x="0" y="0"/>
            <a:chExt cx="9875520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TTS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752076" y="3867912"/>
            <a:ext cx="7406640" cy="411480"/>
            <a:chOff x="0" y="0"/>
            <a:chExt cx="987552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Cartesia / Sarvam AI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358503" y="4503039"/>
            <a:ext cx="8111490" cy="1006602"/>
            <a:chOff x="0" y="0"/>
            <a:chExt cx="10815320" cy="13421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368028" y="4512564"/>
            <a:ext cx="109728" cy="987552"/>
            <a:chOff x="0" y="0"/>
            <a:chExt cx="146304" cy="13167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52076" y="4594860"/>
            <a:ext cx="7406640" cy="411480"/>
            <a:chOff x="0" y="0"/>
            <a:chExt cx="987552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Emotion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752076" y="4992624"/>
            <a:ext cx="7406640" cy="411480"/>
            <a:chOff x="0" y="0"/>
            <a:chExt cx="9875520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Hume AI / NLP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58503" y="5627751"/>
            <a:ext cx="8111490" cy="1006602"/>
            <a:chOff x="0" y="0"/>
            <a:chExt cx="10815320" cy="13421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68028" y="5637276"/>
            <a:ext cx="109728" cy="987552"/>
            <a:chOff x="0" y="0"/>
            <a:chExt cx="146304" cy="131673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752076" y="5719572"/>
            <a:ext cx="7406640" cy="411480"/>
            <a:chOff x="0" y="0"/>
            <a:chExt cx="987552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Relational DB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752076" y="6117336"/>
            <a:ext cx="7406640" cy="411480"/>
            <a:chOff x="0" y="0"/>
            <a:chExt cx="9875520" cy="5486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Supabase PostgreSQL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358503" y="6752463"/>
            <a:ext cx="8111490" cy="1006602"/>
            <a:chOff x="0" y="0"/>
            <a:chExt cx="10815320" cy="134213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368028" y="6761988"/>
            <a:ext cx="109728" cy="987552"/>
            <a:chOff x="0" y="0"/>
            <a:chExt cx="146304" cy="13167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752076" y="6844284"/>
            <a:ext cx="7406640" cy="411480"/>
            <a:chOff x="0" y="0"/>
            <a:chExt cx="9875520" cy="5486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Vector + Graph Memory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9752076" y="7242048"/>
            <a:ext cx="7406640" cy="411480"/>
            <a:chOff x="0" y="0"/>
            <a:chExt cx="987552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pgvector, Upstash Redis, FalkorDB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358503" y="7877175"/>
            <a:ext cx="8111490" cy="1006602"/>
            <a:chOff x="0" y="0"/>
            <a:chExt cx="10815320" cy="134213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0815320" cy="1342136"/>
            </a:xfrm>
            <a:custGeom>
              <a:avLst/>
              <a:gdLst/>
              <a:ahLst/>
              <a:cxnLst/>
              <a:rect r="r" b="b" t="t" l="l"/>
              <a:pathLst>
                <a:path h="1342136" w="10815320">
                  <a:moveTo>
                    <a:pt x="0" y="149098"/>
                  </a:moveTo>
                  <a:cubicBezTo>
                    <a:pt x="0" y="66802"/>
                    <a:pt x="66802" y="0"/>
                    <a:pt x="149098" y="0"/>
                  </a:cubicBezTo>
                  <a:lnTo>
                    <a:pt x="10666222" y="0"/>
                  </a:lnTo>
                  <a:cubicBezTo>
                    <a:pt x="10748518" y="0"/>
                    <a:pt x="10815320" y="66802"/>
                    <a:pt x="10815320" y="149098"/>
                  </a:cubicBezTo>
                  <a:lnTo>
                    <a:pt x="10815320" y="1193038"/>
                  </a:lnTo>
                  <a:cubicBezTo>
                    <a:pt x="10815320" y="1275334"/>
                    <a:pt x="10748518" y="1342136"/>
                    <a:pt x="10666222" y="1342136"/>
                  </a:cubicBezTo>
                  <a:lnTo>
                    <a:pt x="149098" y="1342136"/>
                  </a:lnTo>
                  <a:cubicBezTo>
                    <a:pt x="66802" y="1342136"/>
                    <a:pt x="0" y="1275334"/>
                    <a:pt x="0" y="11930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9368028" y="7886700"/>
            <a:ext cx="109728" cy="987552"/>
            <a:chOff x="0" y="0"/>
            <a:chExt cx="146304" cy="131673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46304" cy="1316736"/>
            </a:xfrm>
            <a:custGeom>
              <a:avLst/>
              <a:gdLst/>
              <a:ahLst/>
              <a:cxnLst/>
              <a:rect r="r" b="b" t="t" l="l"/>
              <a:pathLst>
                <a:path h="1316736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2FB8C9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752076" y="7968996"/>
            <a:ext cx="7406640" cy="411480"/>
            <a:chOff x="0" y="0"/>
            <a:chExt cx="9875520" cy="5486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9875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Background Jobs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9752076" y="8366760"/>
            <a:ext cx="7406640" cy="411480"/>
            <a:chOff x="0" y="0"/>
            <a:chExt cx="9875520" cy="54864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875520" cy="548640"/>
            </a:xfrm>
            <a:custGeom>
              <a:avLst/>
              <a:gdLst/>
              <a:ahLst/>
              <a:cxnLst/>
              <a:rect r="r" b="b" t="t" l="l"/>
              <a:pathLst>
                <a:path h="54864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Trigger.dev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INNOVATION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Four-Tier Hybrid Memory Architecture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127904" y="2108092"/>
            <a:ext cx="877824" cy="877824"/>
            <a:chOff x="0" y="0"/>
            <a:chExt cx="1170432" cy="11704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356137" y="2336325"/>
            <a:ext cx="421357" cy="421357"/>
            <a:chOff x="0" y="0"/>
            <a:chExt cx="561810" cy="561810"/>
          </a:xfrm>
        </p:grpSpPr>
        <p:sp>
          <p:nvSpPr>
            <p:cNvPr name="Freeform 11" id="11" descr="/home/claude/work/icons/clock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5528" y="2852928"/>
            <a:ext cx="3634740" cy="685800"/>
            <a:chOff x="0" y="0"/>
            <a:chExt cx="484632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4846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Short-Term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95528" y="3433943"/>
            <a:ext cx="3634740" cy="411480"/>
            <a:chOff x="0" y="0"/>
            <a:chExt cx="484632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8463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2450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Upstash Redis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2243" y="3444629"/>
            <a:ext cx="3415284" cy="1028700"/>
            <a:chOff x="0" y="0"/>
            <a:chExt cx="4553712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5371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0" r="0" b="-1469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553712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500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conversational state for the active call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94526" y="2098567"/>
            <a:ext cx="877824" cy="877824"/>
            <a:chOff x="0" y="0"/>
            <a:chExt cx="1170432" cy="1170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22759" y="2326800"/>
            <a:ext cx="421357" cy="421357"/>
            <a:chOff x="0" y="0"/>
            <a:chExt cx="561810" cy="561810"/>
          </a:xfrm>
        </p:grpSpPr>
        <p:sp>
          <p:nvSpPr>
            <p:cNvPr name="Freeform 24" id="24" descr="/home/claude/work/icons/database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047488" y="2832354"/>
            <a:ext cx="3634740" cy="685800"/>
            <a:chOff x="0" y="0"/>
            <a:chExt cx="484632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846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Long-Term Semantic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47488" y="3414541"/>
            <a:ext cx="3634740" cy="411480"/>
            <a:chOff x="0" y="0"/>
            <a:chExt cx="484632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8463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2450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PostgreSQL + pgvector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35677" y="3444629"/>
            <a:ext cx="3415284" cy="1028700"/>
            <a:chOff x="0" y="0"/>
            <a:chExt cx="4553712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5371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0" r="0" b="-146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553712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500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Semantic facts &amp; retrieval across sessions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39795" y="2110359"/>
            <a:ext cx="877824" cy="877824"/>
            <a:chOff x="0" y="0"/>
            <a:chExt cx="1170432" cy="1170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668029" y="2338592"/>
            <a:ext cx="421357" cy="421357"/>
            <a:chOff x="0" y="0"/>
            <a:chExt cx="561810" cy="561810"/>
          </a:xfrm>
        </p:grpSpPr>
        <p:sp>
          <p:nvSpPr>
            <p:cNvPr name="Freeform 37" id="37" descr="/home/claude/work/icons/book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006078" y="2832354"/>
            <a:ext cx="3634740" cy="685800"/>
            <a:chOff x="0" y="0"/>
            <a:chExt cx="484632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846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Episodic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011412" y="3414541"/>
            <a:ext cx="3634740" cy="411480"/>
            <a:chOff x="0" y="0"/>
            <a:chExt cx="48463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8463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2450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PostgreSQL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230868" y="3444629"/>
            <a:ext cx="3415284" cy="1028700"/>
            <a:chOff x="0" y="0"/>
            <a:chExt cx="4553712" cy="1371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5371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0" r="0" b="-1469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553712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500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Historical call summaries over time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538960" y="2108092"/>
            <a:ext cx="877824" cy="877824"/>
            <a:chOff x="0" y="0"/>
            <a:chExt cx="117043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767193" y="2326800"/>
            <a:ext cx="421357" cy="421357"/>
            <a:chOff x="0" y="0"/>
            <a:chExt cx="561810" cy="561810"/>
          </a:xfrm>
        </p:grpSpPr>
        <p:sp>
          <p:nvSpPr>
            <p:cNvPr name="Freeform 50" id="50" descr="/home/claude/work/icons/network.png"/>
            <p:cNvSpPr/>
            <p:nvPr/>
          </p:nvSpPr>
          <p:spPr>
            <a:xfrm flipH="false" flipV="false" rot="0">
              <a:off x="0" y="0"/>
              <a:ext cx="561848" cy="561848"/>
            </a:xfrm>
            <a:custGeom>
              <a:avLst/>
              <a:gdLst/>
              <a:ahLst/>
              <a:cxnLst/>
              <a:rect r="r" b="b" t="t" l="l"/>
              <a:pathLst>
                <a:path h="561848" w="561848">
                  <a:moveTo>
                    <a:pt x="0" y="0"/>
                  </a:moveTo>
                  <a:lnTo>
                    <a:pt x="561848" y="0"/>
                  </a:lnTo>
                  <a:lnTo>
                    <a:pt x="561848" y="561848"/>
                  </a:lnTo>
                  <a:lnTo>
                    <a:pt x="0" y="561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281203" y="2852928"/>
            <a:ext cx="3634740" cy="685800"/>
            <a:chOff x="0" y="0"/>
            <a:chExt cx="484632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46320" cy="914400"/>
            </a:xfrm>
            <a:custGeom>
              <a:avLst/>
              <a:gdLst/>
              <a:ahLst/>
              <a:cxnLst/>
              <a:rect r="r" b="b" t="t" l="l"/>
              <a:pathLst>
                <a:path h="9144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84632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Knowledge Graph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427202" y="3312414"/>
            <a:ext cx="3634740" cy="411480"/>
            <a:chOff x="0" y="0"/>
            <a:chExt cx="484632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46320" cy="548640"/>
            </a:xfrm>
            <a:custGeom>
              <a:avLst/>
              <a:gdLst/>
              <a:ahLst/>
              <a:cxnLst/>
              <a:rect r="r" b="b" t="t" l="l"/>
              <a:pathLst>
                <a:path h="5486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8463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i="true">
                  <a:solidFill>
                    <a:srgbClr val="2450C7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FalkorDB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386054" y="3331073"/>
            <a:ext cx="3415284" cy="1028700"/>
            <a:chOff x="0" y="0"/>
            <a:chExt cx="4553712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53712" cy="1371600"/>
            </a:xfrm>
            <a:custGeom>
              <a:avLst/>
              <a:gdLst/>
              <a:ahLst/>
              <a:cxnLst/>
              <a:rect r="r" b="b" t="t" l="l"/>
              <a:pathLst>
                <a:path h="1371600" w="4553712">
                  <a:moveTo>
                    <a:pt x="0" y="0"/>
                  </a:moveTo>
                  <a:lnTo>
                    <a:pt x="4553712" y="0"/>
                  </a:lnTo>
                  <a:lnTo>
                    <a:pt x="4553712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90" r="0" b="-1469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4553712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500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Entities &amp; relationships between them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668029" y="5700409"/>
            <a:ext cx="6717001" cy="4188609"/>
            <a:chOff x="0" y="0"/>
            <a:chExt cx="14704375" cy="9169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704374" cy="9169400"/>
            </a:xfrm>
            <a:custGeom>
              <a:avLst/>
              <a:gdLst/>
              <a:ahLst/>
              <a:cxnLst/>
              <a:rect r="r" b="b" t="t" l="l"/>
              <a:pathLst>
                <a:path h="9169400" w="14704374">
                  <a:moveTo>
                    <a:pt x="0" y="183388"/>
                  </a:moveTo>
                  <a:cubicBezTo>
                    <a:pt x="0" y="82169"/>
                    <a:pt x="111716" y="0"/>
                    <a:pt x="249332" y="0"/>
                  </a:cubicBezTo>
                  <a:lnTo>
                    <a:pt x="14455042" y="0"/>
                  </a:lnTo>
                  <a:cubicBezTo>
                    <a:pt x="14592658" y="0"/>
                    <a:pt x="14704374" y="82169"/>
                    <a:pt x="14704374" y="183388"/>
                  </a:cubicBezTo>
                  <a:lnTo>
                    <a:pt x="14704374" y="8986012"/>
                  </a:lnTo>
                  <a:cubicBezTo>
                    <a:pt x="14704374" y="9087231"/>
                    <a:pt x="14592658" y="9169400"/>
                    <a:pt x="14455042" y="9169400"/>
                  </a:cubicBezTo>
                  <a:lnTo>
                    <a:pt x="249332" y="9169400"/>
                  </a:lnTo>
                  <a:cubicBezTo>
                    <a:pt x="111716" y="9169400"/>
                    <a:pt x="0" y="9087231"/>
                    <a:pt x="0" y="89860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-1147822" y="4482854"/>
            <a:ext cx="15284695" cy="76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16"/>
              </a:lnSpc>
            </a:pPr>
            <a:r>
              <a:rPr lang="en-US" b="true" sz="451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Dual-Signal Emotion Fusion &amp; VA-ICECoT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823448" y="5805184"/>
            <a:ext cx="6190823" cy="467232"/>
            <a:chOff x="0" y="0"/>
            <a:chExt cx="969264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VA-ICECoT Intent Engine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823448" y="6281434"/>
            <a:ext cx="6371997" cy="601132"/>
            <a:chOff x="0" y="0"/>
            <a:chExt cx="969264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692640" cy="914400"/>
            </a:xfrm>
            <a:custGeom>
              <a:avLst/>
              <a:gdLst/>
              <a:ahLst/>
              <a:cxnLst/>
              <a:rect r="r" b="b" t="t" l="l"/>
              <a:pathLst>
                <a:path h="91440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541" r="0" b="-15654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969264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38"/>
                </a:lnSpc>
              </a:pPr>
              <a:r>
                <a:rPr lang="en-US" sz="1620" i="true">
                  <a:solidFill>
                    <a:srgbClr val="4A5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Voice-Agent Intent, Slot &amp; Emotion Chain-of-Thought — structured processing for task-oriented conversations.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938510" y="6977815"/>
            <a:ext cx="6446520" cy="2695200"/>
            <a:chOff x="0" y="0"/>
            <a:chExt cx="8595360" cy="359359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595360" cy="3593599"/>
            </a:xfrm>
            <a:custGeom>
              <a:avLst/>
              <a:gdLst/>
              <a:ahLst/>
              <a:cxnLst/>
              <a:rect r="r" b="b" t="t" l="l"/>
              <a:pathLst>
                <a:path h="3593599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3593599"/>
                  </a:lnTo>
                  <a:lnTo>
                    <a:pt x="0" y="3593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99" r="0" b="4448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595360" cy="3641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8620" indent="-194310" lvl="1">
                <a:lnSpc>
                  <a:spcPts val="2268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INTENT:</a:t>
              </a:r>
              <a:r>
                <a:rPr lang="en-US" sz="1800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Identifies the caller's underlying objective</a:t>
              </a:r>
            </a:p>
            <a:p>
              <a:pPr algn="l">
                <a:lnSpc>
                  <a:spcPts val="2268"/>
                </a:lnSpc>
              </a:pPr>
            </a:p>
            <a:p>
              <a:pPr algn="l" marL="388620" indent="-194310" lvl="1">
                <a:lnSpc>
                  <a:spcPts val="2268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SLOTS:</a:t>
              </a:r>
            </a:p>
            <a:p>
              <a:pPr algn="l">
                <a:lnSpc>
                  <a:spcPts val="2268"/>
                </a:lnSpc>
              </a:pPr>
            </a:p>
            <a:p>
              <a:pPr algn="l" marL="388620" indent="-194310" lvl="1">
                <a:lnSpc>
                  <a:spcPts val="2268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EMOTIONS:</a:t>
              </a:r>
            </a:p>
            <a:p>
              <a:pPr algn="l">
                <a:lnSpc>
                  <a:spcPts val="2268"/>
                </a:lnSpc>
              </a:pPr>
            </a:p>
            <a:p>
              <a:pPr algn="l" marL="388620" indent="-194310" lvl="1">
                <a:lnSpc>
                  <a:spcPts val="2268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  RULE:</a:t>
              </a:r>
            </a:p>
            <a:p>
              <a:pPr algn="l">
                <a:lnSpc>
                  <a:spcPts val="2268"/>
                </a:lnSpc>
              </a:pPr>
            </a:p>
            <a:p>
              <a:pPr algn="l" marL="388620" indent="-194310" lvl="1">
                <a:lnSpc>
                  <a:spcPts val="2268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CONNECTOR/ACTION EXECUTION: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596848" y="9272376"/>
            <a:ext cx="4834847" cy="540645"/>
            <a:chOff x="0" y="0"/>
            <a:chExt cx="8595360" cy="96115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595360" cy="961154"/>
            </a:xfrm>
            <a:custGeom>
              <a:avLst/>
              <a:gdLst/>
              <a:ahLst/>
              <a:cxnLst/>
              <a:rect r="r" b="b" t="t" l="l"/>
              <a:pathLst>
                <a:path h="961154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961154"/>
                  </a:lnTo>
                  <a:lnTo>
                    <a:pt x="0" y="9611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2" r="0" b="-10754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595360" cy="1008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6"/>
                </a:lnSpc>
              </a:pPr>
              <a:r>
                <a:rPr lang="en-US" sz="154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Carries out the resolved </a:t>
              </a:r>
            </a:p>
            <a:p>
              <a:pPr algn="l">
                <a:lnSpc>
                  <a:spcPts val="1946"/>
                </a:lnSpc>
              </a:pPr>
              <a:r>
                <a:rPr lang="en-US" sz="154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 or integration call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927287" y="8750782"/>
            <a:ext cx="6446520" cy="302520"/>
            <a:chOff x="0" y="0"/>
            <a:chExt cx="8595360" cy="40335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595360" cy="403359"/>
            </a:xfrm>
            <a:custGeom>
              <a:avLst/>
              <a:gdLst/>
              <a:ahLst/>
              <a:cxnLst/>
              <a:rect r="r" b="b" t="t" l="l"/>
              <a:pathLst>
                <a:path h="403359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403359"/>
                  </a:lnTo>
                  <a:lnTo>
                    <a:pt x="0" y="4033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871" r="0" b="-39455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8595360" cy="450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6"/>
                </a:lnSpc>
              </a:pPr>
              <a:r>
                <a:rPr lang="en-US" sz="154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rules connect intent + emotion to action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498657" y="8115582"/>
            <a:ext cx="6446520" cy="480060"/>
            <a:chOff x="0" y="0"/>
            <a:chExt cx="8595360" cy="640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595360" cy="640080"/>
            </a:xfrm>
            <a:custGeom>
              <a:avLst/>
              <a:gdLst/>
              <a:ahLst/>
              <a:cxnLst/>
              <a:rect r="r" b="b" t="t" l="l"/>
              <a:pathLst>
                <a:path h="6400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85953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6"/>
                </a:lnSpc>
              </a:pPr>
              <a:r>
                <a:rPr lang="en-US" sz="154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Adds conversational context from the fusion engine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074162" y="7549315"/>
            <a:ext cx="6531838" cy="486413"/>
            <a:chOff x="0" y="0"/>
            <a:chExt cx="8595360" cy="6400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95360" cy="640080"/>
            </a:xfrm>
            <a:custGeom>
              <a:avLst/>
              <a:gdLst/>
              <a:ahLst/>
              <a:cxnLst/>
              <a:rect r="r" b="b" t="t" l="l"/>
              <a:pathLst>
                <a:path h="64008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56" r="0" b="-211656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59536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6"/>
                </a:lnSpc>
              </a:pPr>
              <a:r>
                <a:rPr lang="en-US" sz="1545">
                  <a:solidFill>
                    <a:srgbClr val="4A5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Tracks information required to complete the task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95528" y="5719459"/>
            <a:ext cx="8111490" cy="4169559"/>
            <a:chOff x="0" y="0"/>
            <a:chExt cx="10815320" cy="55594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815320" cy="5559412"/>
            </a:xfrm>
            <a:custGeom>
              <a:avLst/>
              <a:gdLst/>
              <a:ahLst/>
              <a:cxnLst/>
              <a:rect r="r" b="b" t="t" l="l"/>
              <a:pathLst>
                <a:path h="5559412" w="10815320">
                  <a:moveTo>
                    <a:pt x="0" y="111188"/>
                  </a:moveTo>
                  <a:cubicBezTo>
                    <a:pt x="0" y="49819"/>
                    <a:pt x="82169" y="0"/>
                    <a:pt x="183388" y="0"/>
                  </a:cubicBezTo>
                  <a:lnTo>
                    <a:pt x="10631932" y="0"/>
                  </a:lnTo>
                  <a:cubicBezTo>
                    <a:pt x="10733150" y="0"/>
                    <a:pt x="10815320" y="49819"/>
                    <a:pt x="10815320" y="111188"/>
                  </a:cubicBezTo>
                  <a:lnTo>
                    <a:pt x="10815320" y="5448223"/>
                  </a:lnTo>
                  <a:cubicBezTo>
                    <a:pt x="10815320" y="5509592"/>
                    <a:pt x="10733150" y="5559412"/>
                    <a:pt x="10631932" y="5559412"/>
                  </a:cubicBezTo>
                  <a:lnTo>
                    <a:pt x="183388" y="5559412"/>
                  </a:lnTo>
                  <a:cubicBezTo>
                    <a:pt x="82169" y="5559412"/>
                    <a:pt x="0" y="5509593"/>
                    <a:pt x="0" y="544822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AEB9D2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182243" y="6457369"/>
            <a:ext cx="6844284" cy="691896"/>
            <a:chOff x="0" y="0"/>
            <a:chExt cx="9144000" cy="92437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144000" cy="924377"/>
            </a:xfrm>
            <a:custGeom>
              <a:avLst/>
              <a:gdLst/>
              <a:ahLst/>
              <a:cxnLst/>
              <a:rect r="r" b="b" t="t" l="l"/>
              <a:pathLst>
                <a:path h="924377" w="9144000">
                  <a:moveTo>
                    <a:pt x="0" y="119274"/>
                  </a:moveTo>
                  <a:cubicBezTo>
                    <a:pt x="0" y="53425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53425"/>
                    <a:pt x="9144000" y="119274"/>
                  </a:cubicBezTo>
                  <a:lnTo>
                    <a:pt x="9144000" y="805102"/>
                  </a:lnTo>
                  <a:cubicBezTo>
                    <a:pt x="9144000" y="870952"/>
                    <a:pt x="9078468" y="924377"/>
                    <a:pt x="8997696" y="924377"/>
                  </a:cubicBezTo>
                  <a:lnTo>
                    <a:pt x="146304" y="924377"/>
                  </a:lnTo>
                  <a:cubicBezTo>
                    <a:pt x="65532" y="924377"/>
                    <a:pt x="0" y="870952"/>
                    <a:pt x="0" y="805102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82243" y="7311190"/>
            <a:ext cx="6858000" cy="724538"/>
            <a:chOff x="0" y="0"/>
            <a:chExt cx="9144000" cy="96605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0" cy="966051"/>
            </a:xfrm>
            <a:custGeom>
              <a:avLst/>
              <a:gdLst/>
              <a:ahLst/>
              <a:cxnLst/>
              <a:rect r="r" b="b" t="t" l="l"/>
              <a:pathLst>
                <a:path h="966051" w="9144000">
                  <a:moveTo>
                    <a:pt x="0" y="124652"/>
                  </a:moveTo>
                  <a:cubicBezTo>
                    <a:pt x="0" y="55834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55834"/>
                    <a:pt x="9144000" y="124652"/>
                  </a:cubicBezTo>
                  <a:lnTo>
                    <a:pt x="9144000" y="841400"/>
                  </a:lnTo>
                  <a:cubicBezTo>
                    <a:pt x="9144000" y="910218"/>
                    <a:pt x="9078468" y="966051"/>
                    <a:pt x="8997696" y="966051"/>
                  </a:cubicBezTo>
                  <a:lnTo>
                    <a:pt x="146304" y="966051"/>
                  </a:lnTo>
                  <a:cubicBezTo>
                    <a:pt x="65532" y="966051"/>
                    <a:pt x="0" y="910218"/>
                    <a:pt x="0" y="841400"/>
                  </a:cubicBezTo>
                  <a:close/>
                </a:path>
              </a:pathLst>
            </a:custGeom>
            <a:solidFill>
              <a:srgbClr val="0A0E2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182243" y="8193586"/>
            <a:ext cx="6858000" cy="708455"/>
            <a:chOff x="0" y="0"/>
            <a:chExt cx="9144000" cy="94460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0" cy="944607"/>
            </a:xfrm>
            <a:custGeom>
              <a:avLst/>
              <a:gdLst/>
              <a:ahLst/>
              <a:cxnLst/>
              <a:rect r="r" b="b" t="t" l="l"/>
              <a:pathLst>
                <a:path h="944607" w="9144000">
                  <a:moveTo>
                    <a:pt x="0" y="121885"/>
                  </a:moveTo>
                  <a:cubicBezTo>
                    <a:pt x="0" y="54594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54594"/>
                    <a:pt x="9144000" y="121885"/>
                  </a:cubicBezTo>
                  <a:lnTo>
                    <a:pt x="9144000" y="822722"/>
                  </a:lnTo>
                  <a:cubicBezTo>
                    <a:pt x="9144000" y="890013"/>
                    <a:pt x="9078468" y="944607"/>
                    <a:pt x="8997696" y="944607"/>
                  </a:cubicBezTo>
                  <a:lnTo>
                    <a:pt x="146304" y="944607"/>
                  </a:lnTo>
                  <a:cubicBezTo>
                    <a:pt x="65532" y="944607"/>
                    <a:pt x="0" y="890013"/>
                    <a:pt x="0" y="822722"/>
                  </a:cubicBezTo>
                  <a:close/>
                </a:path>
              </a:pathLst>
            </a:custGeom>
            <a:solidFill>
              <a:srgbClr val="E8992E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82243" y="9124312"/>
            <a:ext cx="6886575" cy="554865"/>
            <a:chOff x="0" y="0"/>
            <a:chExt cx="9182100" cy="7398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182100" cy="739820"/>
            </a:xfrm>
            <a:custGeom>
              <a:avLst/>
              <a:gdLst/>
              <a:ahLst/>
              <a:cxnLst/>
              <a:rect r="r" b="b" t="t" l="l"/>
              <a:pathLst>
                <a:path h="739820" w="9182100">
                  <a:moveTo>
                    <a:pt x="0" y="95484"/>
                  </a:moveTo>
                  <a:cubicBezTo>
                    <a:pt x="0" y="42731"/>
                    <a:pt x="67691" y="0"/>
                    <a:pt x="151257" y="0"/>
                  </a:cubicBezTo>
                  <a:lnTo>
                    <a:pt x="9030843" y="0"/>
                  </a:lnTo>
                  <a:cubicBezTo>
                    <a:pt x="9114409" y="0"/>
                    <a:pt x="9182100" y="42731"/>
                    <a:pt x="9182100" y="95484"/>
                  </a:cubicBezTo>
                  <a:lnTo>
                    <a:pt x="9182100" y="644336"/>
                  </a:lnTo>
                  <a:cubicBezTo>
                    <a:pt x="9182100" y="697089"/>
                    <a:pt x="9114409" y="739820"/>
                    <a:pt x="9030843" y="739820"/>
                  </a:cubicBezTo>
                  <a:lnTo>
                    <a:pt x="151257" y="739820"/>
                  </a:lnTo>
                  <a:cubicBezTo>
                    <a:pt x="67691" y="739820"/>
                    <a:pt x="0" y="697089"/>
                    <a:pt x="0" y="64433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A0E26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10818" y="8140504"/>
            <a:ext cx="6858000" cy="850392"/>
            <a:chOff x="0" y="0"/>
            <a:chExt cx="9144000" cy="113385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144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9144000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Dual-Signal Fusion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22273" y="8978242"/>
            <a:ext cx="6858000" cy="850392"/>
            <a:chOff x="0" y="0"/>
            <a:chExt cx="9144000" cy="113385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37" r="0" b="-10713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19050"/>
              <a:ext cx="91440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Overall Conversational Emotion State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3369051" y="7378185"/>
            <a:ext cx="212243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Acoustic Emotion Signal</a:t>
            </a:r>
          </a:p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7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prosody / voice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001268" y="7368979"/>
            <a:ext cx="68580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b="true" sz="17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Acoustic Emotion Signal</a:t>
            </a:r>
          </a:p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b="true" sz="17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prosody / voice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28700" y="6539665"/>
            <a:ext cx="68442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b="true" sz="17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Textual Emotion Signal</a:t>
            </a:r>
          </a:p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b="true" sz="17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transcribed speech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216533" y="5832529"/>
            <a:ext cx="7269480" cy="548640"/>
            <a:chOff x="0" y="0"/>
            <a:chExt cx="9692640" cy="7315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Dual-Signal Emotion Fusion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Results and Discussion — Proposed Metrics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22960" y="2263140"/>
          <a:ext cx="16611600" cy="5467350"/>
        </p:xfrm>
        <a:graphic>
          <a:graphicData uri="http://schemas.openxmlformats.org/drawingml/2006/table">
            <a:tbl>
              <a:tblPr/>
              <a:tblGrid>
                <a:gridCol w="4924768"/>
                <a:gridCol w="5060780"/>
                <a:gridCol w="3605452"/>
                <a:gridCol w="3020600"/>
              </a:tblGrid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Evaluation Method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Target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26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End-to-End Latency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Pipeline instrumentation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2450C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&lt; 500 ms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 i="true">
                          <a:solidFill>
                            <a:srgbClr val="E8992E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To Be Evaluated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Voice First-Byte Latency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TTS latency measurement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2450C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&lt; 100 ms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 i="true">
                          <a:solidFill>
                            <a:srgbClr val="E8992E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To Be Evaluated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Emotion Fusion Accuracy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Comparison with human ratings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2450C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&gt; 90% correlation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 i="true">
                          <a:solidFill>
                            <a:srgbClr val="E8992E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To Be Evaluated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Intent Accuracy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Labelled test scenarios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2450C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&gt; 95%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 i="true">
                          <a:solidFill>
                            <a:srgbClr val="E8992E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To Be Evaluated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Memory Retrieval Precision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Relevant-context precision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2450C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&gt; 92%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 i="true">
                          <a:solidFill>
                            <a:srgbClr val="E8992E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To Be Evaluated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10131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Task Completion Rate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4"/>
                        </a:lnSpc>
                        <a:defRPr/>
                      </a:pPr>
                      <a:r>
                        <a:rPr lang="en-US" sz="1695">
                          <a:solidFill>
                            <a:srgbClr val="4A5268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Automated scenario completion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4"/>
                        </a:lnSpc>
                        <a:defRPr/>
                      </a:pPr>
                      <a:r>
                        <a:rPr lang="en-US" sz="1770" b="true">
                          <a:solidFill>
                            <a:srgbClr val="2450C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&gt; 85%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 i="true">
                          <a:solidFill>
                            <a:srgbClr val="E8992E"/>
                          </a:solidFill>
                          <a:latin typeface="Calibri (MS) Italics"/>
                          <a:ea typeface="Calibri (MS) Italics"/>
                          <a:cs typeface="Calibri (MS) Italics"/>
                          <a:sym typeface="Calibri (MS) Italics"/>
                        </a:rPr>
                        <a:t>To Be Evaluated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EB9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813435" y="8425815"/>
            <a:ext cx="16656558" cy="1088898"/>
            <a:chOff x="0" y="0"/>
            <a:chExt cx="22208744" cy="14518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08744" cy="1451864"/>
            </a:xfrm>
            <a:custGeom>
              <a:avLst/>
              <a:gdLst/>
              <a:ahLst/>
              <a:cxnLst/>
              <a:rect r="r" b="b" t="t" l="l"/>
              <a:pathLst>
                <a:path h="1451864" w="22208744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059900" y="0"/>
                  </a:lnTo>
                  <a:cubicBezTo>
                    <a:pt x="22142196" y="0"/>
                    <a:pt x="22208744" y="66675"/>
                    <a:pt x="22208744" y="148844"/>
                  </a:cubicBezTo>
                  <a:lnTo>
                    <a:pt x="22208744" y="1303020"/>
                  </a:lnTo>
                  <a:cubicBezTo>
                    <a:pt x="22208744" y="1385316"/>
                    <a:pt x="22142069" y="1451864"/>
                    <a:pt x="22059900" y="1451864"/>
                  </a:cubicBezTo>
                  <a:lnTo>
                    <a:pt x="148844" y="1451864"/>
                  </a:lnTo>
                  <a:cubicBezTo>
                    <a:pt x="66675" y="1451864"/>
                    <a:pt x="0" y="1385189"/>
                    <a:pt x="0" y="1303020"/>
                  </a:cubicBezTo>
                  <a:close/>
                </a:path>
              </a:pathLst>
            </a:custGeom>
            <a:solidFill>
              <a:srgbClr val="EEF3FF"/>
            </a:solidFill>
            <a:ln w="19050" cap="sq">
              <a:solidFill>
                <a:srgbClr val="D6E2FA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24712" y="8613648"/>
            <a:ext cx="685800" cy="685800"/>
            <a:chOff x="0" y="0"/>
            <a:chExt cx="9144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2450C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8791956"/>
            <a:ext cx="329184" cy="329184"/>
            <a:chOff x="0" y="0"/>
            <a:chExt cx="438912" cy="438912"/>
          </a:xfrm>
        </p:grpSpPr>
        <p:sp>
          <p:nvSpPr>
            <p:cNvPr name="Freeform 14" id="14" descr="/home/claude/work/icons/gaug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88820" y="8435340"/>
            <a:ext cx="15224760" cy="1069848"/>
            <a:chOff x="0" y="0"/>
            <a:chExt cx="20299680" cy="14264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99680" cy="1426464"/>
            </a:xfrm>
            <a:custGeom>
              <a:avLst/>
              <a:gdLst/>
              <a:ahLst/>
              <a:cxnLst/>
              <a:rect r="r" b="b" t="t" l="l"/>
              <a:pathLst>
                <a:path h="1426464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287" r="0" b="-227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0299680" cy="1483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650" i="true">
                  <a:solidFill>
                    <a:srgbClr val="0A0E2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These values are proposed evaluation targets, not achieved results. The architecture and major components are implemented; formal, statistically validated evaluation is part of the final project phase.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FB8C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C6CFE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013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&amp; Future Work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22195"/>
            <a:ext cx="8111490" cy="6877050"/>
            <a:chOff x="0" y="0"/>
            <a:chExt cx="10815320" cy="9169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532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81532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631932" y="0"/>
                  </a:lnTo>
                  <a:cubicBezTo>
                    <a:pt x="10733150" y="0"/>
                    <a:pt x="10815320" y="82169"/>
                    <a:pt x="10815320" y="183388"/>
                  </a:cubicBezTo>
                  <a:lnTo>
                    <a:pt x="10815320" y="8986012"/>
                  </a:lnTo>
                  <a:cubicBezTo>
                    <a:pt x="10815320" y="9087231"/>
                    <a:pt x="10733150" y="9169400"/>
                    <a:pt x="10631932" y="9169400"/>
                  </a:cubicBezTo>
                  <a:lnTo>
                    <a:pt x="183388" y="9169400"/>
                  </a:lnTo>
                  <a:cubicBezTo>
                    <a:pt x="82169" y="9169400"/>
                    <a:pt x="0" y="9087231"/>
                    <a:pt x="0" y="8986012"/>
                  </a:cubicBezTo>
                  <a:close/>
                </a:path>
              </a:pathLst>
            </a:custGeom>
            <a:solidFill>
              <a:srgbClr val="AEB9D2"/>
            </a:solidFill>
            <a:ln w="19050" cap="sq">
              <a:solidFill>
                <a:srgbClr val="2A356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633472"/>
            <a:ext cx="7269480" cy="548640"/>
            <a:chOff x="0" y="0"/>
            <a:chExt cx="96926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013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Contributions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1872" y="3429000"/>
            <a:ext cx="164592" cy="164592"/>
            <a:chOff x="0" y="0"/>
            <a:chExt cx="219456" cy="2194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18488" y="3250692"/>
            <a:ext cx="6858000" cy="1028700"/>
            <a:chOff x="0" y="0"/>
            <a:chExt cx="9144000" cy="1371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91440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Four-tier hybrid memory unifies short-term, semantic, episodic &amp; graph context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61872" y="4553712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18488" y="4375404"/>
            <a:ext cx="6858000" cy="1028700"/>
            <a:chOff x="0" y="0"/>
            <a:chExt cx="91440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91440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Dual-signal emotion fusion estimates caller state from text and voice together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61872" y="5678424"/>
            <a:ext cx="164592" cy="164592"/>
            <a:chOff x="0" y="0"/>
            <a:chExt cx="219456" cy="2194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18488" y="5500116"/>
            <a:ext cx="6858000" cy="1028700"/>
            <a:chOff x="0" y="0"/>
            <a:chExt cx="9144000" cy="1371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91440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VA-ICECoT structures intent, slot and emotion reasoning for task completion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61872" y="6803136"/>
            <a:ext cx="164592" cy="164592"/>
            <a:chOff x="0" y="0"/>
            <a:chExt cx="219456" cy="2194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18488" y="6624828"/>
            <a:ext cx="6858000" cy="1028700"/>
            <a:chOff x="0" y="0"/>
            <a:chExt cx="914400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91440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Pipecat + LiveKit pipeline with language-aware Hinglish support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1872" y="7927848"/>
            <a:ext cx="164592" cy="164592"/>
            <a:chOff x="0" y="0"/>
            <a:chExt cx="219456" cy="2194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18488" y="7749540"/>
            <a:ext cx="6858000" cy="1028700"/>
            <a:chOff x="0" y="0"/>
            <a:chExt cx="914400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91440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interaction is decoupled from async post-call processing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58503" y="2322195"/>
            <a:ext cx="8111490" cy="6877050"/>
            <a:chOff x="0" y="0"/>
            <a:chExt cx="10815320" cy="9169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15320" cy="9169400"/>
            </a:xfrm>
            <a:custGeom>
              <a:avLst/>
              <a:gdLst/>
              <a:ahLst/>
              <a:cxnLst/>
              <a:rect r="r" b="b" t="t" l="l"/>
              <a:pathLst>
                <a:path h="9169400" w="1081532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0631932" y="0"/>
                  </a:lnTo>
                  <a:cubicBezTo>
                    <a:pt x="10733150" y="0"/>
                    <a:pt x="10815320" y="82169"/>
                    <a:pt x="10815320" y="183388"/>
                  </a:cubicBezTo>
                  <a:lnTo>
                    <a:pt x="10815320" y="8986012"/>
                  </a:lnTo>
                  <a:cubicBezTo>
                    <a:pt x="10815320" y="9087231"/>
                    <a:pt x="10733150" y="9169400"/>
                    <a:pt x="10631932" y="9169400"/>
                  </a:cubicBezTo>
                  <a:lnTo>
                    <a:pt x="183388" y="9169400"/>
                  </a:lnTo>
                  <a:cubicBezTo>
                    <a:pt x="82169" y="9169400"/>
                    <a:pt x="0" y="9087231"/>
                    <a:pt x="0" y="8986012"/>
                  </a:cubicBezTo>
                  <a:close/>
                </a:path>
              </a:pathLst>
            </a:custGeom>
            <a:solidFill>
              <a:srgbClr val="AEB9D2"/>
            </a:solidFill>
            <a:ln w="19050" cap="sq">
              <a:solidFill>
                <a:srgbClr val="2A356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79508" y="2669703"/>
            <a:ext cx="6789420" cy="512409"/>
            <a:chOff x="0" y="0"/>
            <a:chExt cx="969264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92640" cy="731520"/>
            </a:xfrm>
            <a:custGeom>
              <a:avLst/>
              <a:gdLst/>
              <a:ahLst/>
              <a:cxnLst/>
              <a:rect r="r" b="b" t="t" l="l"/>
              <a:pathLst>
                <a:path h="7315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176" r="0" b="-20817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6926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013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Scope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06940" y="3429000"/>
            <a:ext cx="164592" cy="164592"/>
            <a:chOff x="0" y="0"/>
            <a:chExt cx="219456" cy="2194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163556" y="3250692"/>
            <a:ext cx="6858000" cy="891540"/>
            <a:chOff x="0" y="0"/>
            <a:chExt cx="9144000" cy="11887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9144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Support for additional Indian languages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06940" y="4389120"/>
            <a:ext cx="164592" cy="164592"/>
            <a:chOff x="0" y="0"/>
            <a:chExt cx="219456" cy="2194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63556" y="4210812"/>
            <a:ext cx="6858000" cy="891540"/>
            <a:chOff x="0" y="0"/>
            <a:chExt cx="914400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144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Emotion models calibrated for Indian accents &amp; code-switching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06940" y="5349240"/>
            <a:ext cx="164592" cy="164592"/>
            <a:chOff x="0" y="0"/>
            <a:chExt cx="219456" cy="21945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163556" y="5170932"/>
            <a:ext cx="6858000" cy="891540"/>
            <a:chOff x="0" y="0"/>
            <a:chExt cx="9144000" cy="11887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9144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Stronger long-term memory consolidation across calls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06940" y="6309360"/>
            <a:ext cx="164592" cy="164592"/>
            <a:chOff x="0" y="0"/>
            <a:chExt cx="219456" cy="2194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163556" y="6131052"/>
            <a:ext cx="6858000" cy="891540"/>
            <a:chOff x="0" y="0"/>
            <a:chExt cx="914400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9144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Deeper knowledge-graph reasoning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06940" y="7269480"/>
            <a:ext cx="164592" cy="164592"/>
            <a:chOff x="0" y="0"/>
            <a:chExt cx="219456" cy="2194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163556" y="7091172"/>
            <a:ext cx="6858000" cy="891540"/>
            <a:chOff x="0" y="0"/>
            <a:chExt cx="9144000" cy="1188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9144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Additional telephony integrations &amp; privacy-preserving inference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806940" y="8229600"/>
            <a:ext cx="164592" cy="164592"/>
            <a:chOff x="0" y="0"/>
            <a:chExt cx="219456" cy="2194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2A356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163556" y="8051292"/>
            <a:ext cx="6858000" cy="891540"/>
            <a:chOff x="0" y="0"/>
            <a:chExt cx="9144000" cy="1188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9144000" cy="1264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1"/>
                </a:lnSpc>
              </a:pPr>
              <a:r>
                <a:rPr lang="en-US" sz="1739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Larger-scale empirical evaluation against proposed metrics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6C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21208"/>
            <a:ext cx="13716000" cy="411480"/>
            <a:chOff x="0" y="0"/>
            <a:chExt cx="182880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2450C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95528" y="905256"/>
            <a:ext cx="15773400" cy="987552"/>
            <a:chOff x="0" y="0"/>
            <a:chExt cx="21031200" cy="1316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219" r="0" b="-26121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A0E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3140"/>
            <a:ext cx="754380" cy="685800"/>
            <a:chOff x="0" y="0"/>
            <a:chExt cx="100584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[1]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45920" y="2263140"/>
            <a:ext cx="15773400" cy="685800"/>
            <a:chOff x="0" y="0"/>
            <a:chExt cx="210312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X. Zhang, W. Wang, and Q. Jin, “IntentionESC: An Intention-Centered Framework for Enhancing Emotional Support in Dialogue Systems,” in Findings of ACL 2025, Vienna, Austria, 2025, pp. 26494–26516.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051810"/>
            <a:ext cx="754380" cy="685800"/>
            <a:chOff x="0" y="0"/>
            <a:chExt cx="100584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[2]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5920" y="3051810"/>
            <a:ext cx="15773400" cy="685800"/>
            <a:chOff x="0" y="0"/>
            <a:chExt cx="21031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Y. Yin, E. Hwang, and G. Carenini, “SWI: Speaking with Intent in Large Language Models,” in Proc. 18th Int. Natural Language Generation Conf., 2025, pp. 684–698.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840480"/>
            <a:ext cx="754380" cy="685800"/>
            <a:chOff x="0" y="0"/>
            <a:chExt cx="100584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[3]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45920" y="3840480"/>
            <a:ext cx="15773400" cy="685800"/>
            <a:chOff x="0" y="0"/>
            <a:chExt cx="210312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Y. Huang et al., “JX4MEI: Multimodal Semantically-Enhanced LLM for Joint Multimodal Emotion-Intent Explanation and Classification,” in Findings of ACL 2026, 2026, pp. 20242–20261.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2960" y="4629150"/>
            <a:ext cx="754380" cy="685800"/>
            <a:chOff x="0" y="0"/>
            <a:chExt cx="100584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[4]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45920" y="4629150"/>
            <a:ext cx="15773400" cy="685800"/>
            <a:chOff x="0" y="0"/>
            <a:chExt cx="210312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R. Liu, H. Zuo, Z. Lian, X. Xing, B. W. Schuller, and H. Li, “Emotion and Intent Joint Understanding in Multimodal Conversation: A Benchmarking Dataset,” arXiv:2407.02751, 2024.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417820"/>
            <a:ext cx="754380" cy="685800"/>
            <a:chOff x="0" y="0"/>
            <a:chExt cx="100584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[5]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45920" y="5417820"/>
            <a:ext cx="15773400" cy="685800"/>
            <a:chOff x="0" y="0"/>
            <a:chExt cx="210312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L. Yu et al., “Affective Multimodal Agents with Proactive Knowledge Grounding for Emotionally Aligned Marketing Dialogue,” arXiv:2511.21728, 2025.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2960" y="6206490"/>
            <a:ext cx="754380" cy="685800"/>
            <a:chOff x="0" y="0"/>
            <a:chExt cx="100584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[6]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45920" y="6206490"/>
            <a:ext cx="15773400" cy="685800"/>
            <a:chOff x="0" y="0"/>
            <a:chExt cx="210312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VoCall Engineering Team, “VoCall — Product Requirements Document,” Internal Project Specification, v2.0, 2026.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6995160"/>
            <a:ext cx="754380" cy="685800"/>
            <a:chOff x="0" y="0"/>
            <a:chExt cx="100584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[7]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45920" y="6995160"/>
            <a:ext cx="15773400" cy="685800"/>
            <a:chOff x="0" y="0"/>
            <a:chExt cx="210312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VoCall Architecture Team, “VoCall — System Architecture Document,” Internal Project Specification, v2.0, 2026.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7783830"/>
            <a:ext cx="754380" cy="685800"/>
            <a:chOff x="0" y="0"/>
            <a:chExt cx="100584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" cy="914400"/>
            </a:xfrm>
            <a:custGeom>
              <a:avLst/>
              <a:gdLst/>
              <a:ahLst/>
              <a:cxnLst/>
              <a:rect r="r" b="b" t="t" l="l"/>
              <a:pathLst>
                <a:path h="91440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t="0" r="-6663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05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2450C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[8]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45920" y="7783830"/>
            <a:ext cx="15773400" cy="685800"/>
            <a:chOff x="0" y="0"/>
            <a:chExt cx="210312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03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10312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9"/>
                </a:lnSpc>
              </a:pPr>
              <a:r>
                <a:rPr lang="en-US" sz="1650">
                  <a:solidFill>
                    <a:srgbClr val="1013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P. Kumar, “VoCall — Design Document (Pages &amp; Tabs Reference),” Internal Project Specification, v1.0, 2026.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DAHUx8Kd6Eo</dc:identifier>
  <dcterms:modified xsi:type="dcterms:W3CDTF">2011-08-01T06:04:30Z</dcterms:modified>
  <cp:revision>1</cp:revision>
  <dc:title>VoCall_Project_Presentation.pptx</dc:title>
</cp:coreProperties>
</file>